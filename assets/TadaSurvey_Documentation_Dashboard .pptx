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embeddedFontLst>
    <p:embeddedFont>
      <p:font typeface="Helvetica Neue"/>
      <p:regular r:id="rId23"/>
      <p:bold r:id="rId24"/>
      <p:italic r:id="rId25"/>
      <p:boldItalic r:id="rId26"/>
    </p:embeddedFont>
    <p:embeddedFont>
      <p:font typeface="Helvetica Neue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ihBaSigj4jWkJ9Zu3owADiX4Bc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HelveticaNeueLight-bold.fntdata"/><Relationship Id="rId27" Type="http://schemas.openxmlformats.org/officeDocument/2006/relationships/font" Target="fonts/HelveticaNeue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L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HelveticaNeue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p:cSld name="Couverture">
    <p:spTree>
      <p:nvGrpSpPr>
        <p:cNvPr id="15" name="Shape 15"/>
        <p:cNvGrpSpPr/>
        <p:nvPr/>
      </p:nvGrpSpPr>
      <p:grpSpPr>
        <a:xfrm>
          <a:off x="0" y="0"/>
          <a:ext cx="0" cy="0"/>
          <a:chOff x="0" y="0"/>
          <a:chExt cx="0" cy="0"/>
        </a:xfrm>
      </p:grpSpPr>
      <p:pic>
        <p:nvPicPr>
          <p:cNvPr id="16" name="Google Shape;16;p20"/>
          <p:cNvPicPr preferRelativeResize="0"/>
          <p:nvPr/>
        </p:nvPicPr>
        <p:blipFill rotWithShape="1">
          <a:blip r:embed="rId2">
            <a:alphaModFix/>
          </a:blip>
          <a:srcRect b="0" l="0" r="0" t="0"/>
          <a:stretch/>
        </p:blipFill>
        <p:spPr>
          <a:xfrm>
            <a:off x="0" y="1"/>
            <a:ext cx="9144018" cy="6858001"/>
          </a:xfrm>
          <a:prstGeom prst="rect">
            <a:avLst/>
          </a:prstGeom>
          <a:noFill/>
          <a:ln>
            <a:noFill/>
          </a:ln>
        </p:spPr>
      </p:pic>
      <p:pic>
        <p:nvPicPr>
          <p:cNvPr id="17" name="Google Shape;17;p20"/>
          <p:cNvPicPr preferRelativeResize="0"/>
          <p:nvPr/>
        </p:nvPicPr>
        <p:blipFill rotWithShape="1">
          <a:blip r:embed="rId3">
            <a:alphaModFix/>
          </a:blip>
          <a:srcRect b="0" l="0" r="0" t="0"/>
          <a:stretch/>
        </p:blipFill>
        <p:spPr>
          <a:xfrm>
            <a:off x="1193026" y="2382201"/>
            <a:ext cx="853827" cy="217300"/>
          </a:xfrm>
          <a:prstGeom prst="rect">
            <a:avLst/>
          </a:prstGeom>
          <a:noFill/>
          <a:ln>
            <a:noFill/>
          </a:ln>
        </p:spPr>
      </p:pic>
      <p:sp>
        <p:nvSpPr>
          <p:cNvPr id="18" name="Google Shape;18;p20"/>
          <p:cNvSpPr txBox="1"/>
          <p:nvPr>
            <p:ph type="title"/>
          </p:nvPr>
        </p:nvSpPr>
        <p:spPr>
          <a:xfrm>
            <a:off x="1079050" y="2989100"/>
            <a:ext cx="6810600" cy="1388800"/>
          </a:xfrm>
          <a:prstGeom prst="rect">
            <a:avLst/>
          </a:prstGeom>
          <a:noFill/>
          <a:ln>
            <a:noFill/>
          </a:ln>
        </p:spPr>
        <p:txBody>
          <a:bodyPr anchorCtr="0" anchor="t" bIns="91425" lIns="91425" spcFirstLastPara="1" rIns="91425" wrap="square" tIns="91425">
            <a:normAutofit/>
          </a:bodyPr>
          <a:lstStyle>
            <a:lvl1pPr lvl="0" algn="ctr">
              <a:lnSpc>
                <a:spcPct val="80000"/>
              </a:lnSpc>
              <a:spcBef>
                <a:spcPts val="0"/>
              </a:spcBef>
              <a:spcAft>
                <a:spcPts val="0"/>
              </a:spcAft>
              <a:buClr>
                <a:schemeClr val="dk1"/>
              </a:buClr>
              <a:buSzPts val="3600"/>
              <a:buFont typeface="Helvetica Neue Light"/>
              <a:buNone/>
              <a:defRPr sz="3600">
                <a:latin typeface="Helvetica Neue Light"/>
                <a:ea typeface="Helvetica Neue Light"/>
                <a:cs typeface="Helvetica Neue Light"/>
                <a:sym typeface="Helvetica Neue Light"/>
              </a:defRPr>
            </a:lvl1pPr>
            <a:lvl2pPr lvl="1">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2pPr>
            <a:lvl3pPr lvl="2">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3pPr>
            <a:lvl4pPr lvl="3">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4pPr>
            <a:lvl5pPr lvl="4">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5pPr>
            <a:lvl6pPr lvl="5">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6pPr>
            <a:lvl7pPr lvl="6">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7pPr>
            <a:lvl8pPr lvl="7">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8pPr>
            <a:lvl9pPr lvl="8">
              <a:spcBef>
                <a:spcPts val="0"/>
              </a:spcBef>
              <a:spcAft>
                <a:spcPts val="0"/>
              </a:spcAft>
              <a:buSzPts val="3600"/>
              <a:buFont typeface="Helvetica Neue Light"/>
              <a:buNone/>
              <a:defRPr sz="3600">
                <a:latin typeface="Helvetica Neue Light"/>
                <a:ea typeface="Helvetica Neue Light"/>
                <a:cs typeface="Helvetica Neue Light"/>
                <a:sym typeface="Helvetica Neue Light"/>
              </a:defRPr>
            </a:lvl9pPr>
          </a:lstStyle>
          <a:p/>
        </p:txBody>
      </p:sp>
      <p:sp>
        <p:nvSpPr>
          <p:cNvPr id="19" name="Google Shape;19;p20"/>
          <p:cNvSpPr txBox="1"/>
          <p:nvPr>
            <p:ph idx="1" type="body"/>
          </p:nvPr>
        </p:nvSpPr>
        <p:spPr>
          <a:xfrm>
            <a:off x="1085000" y="4376600"/>
            <a:ext cx="2409300" cy="396800"/>
          </a:xfrm>
          <a:prstGeom prst="rect">
            <a:avLst/>
          </a:prstGeom>
          <a:noFill/>
          <a:ln>
            <a:noFill/>
          </a:ln>
        </p:spPr>
        <p:txBody>
          <a:bodyPr anchorCtr="0" anchor="t" bIns="91425" lIns="91425" spcFirstLastPara="1" rIns="91425" wrap="square" tIns="91425">
            <a:normAutofit/>
          </a:bodyPr>
          <a:lstStyle>
            <a:lvl1pPr indent="-279400" lvl="0" marL="4572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1pPr>
            <a:lvl2pPr indent="-279400" lvl="1" marL="9144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2pPr>
            <a:lvl3pPr indent="-279400" lvl="2" marL="13716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3pPr>
            <a:lvl4pPr indent="-279400" lvl="3" marL="18288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4pPr>
            <a:lvl5pPr indent="-279400" lvl="4" marL="22860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5pPr>
            <a:lvl6pPr indent="-279400" lvl="5" marL="27432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6pPr>
            <a:lvl7pPr indent="-279400" lvl="6" marL="32004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7pPr>
            <a:lvl8pPr indent="-279400" lvl="7" marL="36576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8pPr>
            <a:lvl9pPr indent="-279400" lvl="8" marL="4114800" algn="l">
              <a:lnSpc>
                <a:spcPct val="80000"/>
              </a:lnSpc>
              <a:spcBef>
                <a:spcPts val="0"/>
              </a:spcBef>
              <a:spcAft>
                <a:spcPts val="0"/>
              </a:spcAft>
              <a:buClr>
                <a:schemeClr val="dk1"/>
              </a:buClr>
              <a:buSzPts val="800"/>
              <a:buFont typeface="Helvetica Neue Light"/>
              <a:buChar char="■"/>
              <a:defRPr sz="800">
                <a:latin typeface="Helvetica Neue Light"/>
                <a:ea typeface="Helvetica Neue Light"/>
                <a:cs typeface="Helvetica Neue Light"/>
                <a:sym typeface="Helvetica Neue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3" name="Google Shape;2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cus2">
  <p:cSld name="focus2">
    <p:bg>
      <p:bgPr>
        <a:blipFill>
          <a:blip r:embed="rId2">
            <a:alphaModFix/>
          </a:blip>
          <a:stretch>
            <a:fillRect/>
          </a:stretch>
        </a:blipFill>
      </p:bgPr>
    </p:bg>
    <p:spTree>
      <p:nvGrpSpPr>
        <p:cNvPr id="32" name="Shape 3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0"/>
          <p:cNvSpPr/>
          <p:nvPr>
            <p:ph idx="2" type="pic"/>
          </p:nvPr>
        </p:nvSpPr>
        <p:spPr>
          <a:xfrm>
            <a:off x="1792288" y="612775"/>
            <a:ext cx="5486400" cy="4114800"/>
          </a:xfrm>
          <a:prstGeom prst="rect">
            <a:avLst/>
          </a:prstGeom>
          <a:noFill/>
          <a:ln>
            <a:noFill/>
          </a:ln>
        </p:spPr>
      </p:sp>
      <p:sp>
        <p:nvSpPr>
          <p:cNvPr id="74" name="Google Shape;7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1079050" y="3099075"/>
            <a:ext cx="7077300" cy="1041600"/>
          </a:xfrm>
          <a:prstGeom prst="rect">
            <a:avLst/>
          </a:prstGeom>
          <a:noFill/>
          <a:ln>
            <a:noFill/>
          </a:ln>
        </p:spPr>
        <p:txBody>
          <a:bodyPr anchorCtr="0" anchor="t" bIns="91425" lIns="91425" spcFirstLastPara="1" rIns="91425" wrap="square" tIns="91425">
            <a:normAutofit/>
          </a:bodyPr>
          <a:lstStyle/>
          <a:p>
            <a:pPr indent="0" lvl="0" marL="0" rtl="0" algn="ctr">
              <a:lnSpc>
                <a:spcPct val="80000"/>
              </a:lnSpc>
              <a:spcBef>
                <a:spcPts val="0"/>
              </a:spcBef>
              <a:spcAft>
                <a:spcPts val="0"/>
              </a:spcAft>
              <a:buClr>
                <a:schemeClr val="dk1"/>
              </a:buClr>
              <a:buSzPts val="3600"/>
              <a:buFont typeface="Helvetica Neue Light"/>
              <a:buNone/>
            </a:pPr>
            <a:r>
              <a:rPr b="1" lang="fr-FR" sz="4800">
                <a:latin typeface="Helvetica Neue"/>
                <a:ea typeface="Helvetica Neue"/>
                <a:cs typeface="Helvetica Neue"/>
                <a:sym typeface="Helvetica Neue"/>
              </a:rPr>
              <a:t>Tada research app</a:t>
            </a:r>
            <a:endParaRPr b="1" sz="4800">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2"/>
          <p:cNvSpPr txBox="1"/>
          <p:nvPr>
            <p:ph type="ctrTitle"/>
          </p:nvPr>
        </p:nvSpPr>
        <p:spPr>
          <a:xfrm>
            <a:off x="843885" y="1469026"/>
            <a:ext cx="7772400" cy="91443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2400"/>
              <a:buFont typeface="Calibri"/>
              <a:buNone/>
            </a:pPr>
            <a:r>
              <a:rPr b="1" lang="fr-FR" sz="2400"/>
              <a:t>Documentation d'utilisation de l'application</a:t>
            </a:r>
            <a:endParaRPr b="1" sz="2400"/>
          </a:p>
          <a:p>
            <a:pPr indent="0" lvl="0" marL="0" rtl="0" algn="l">
              <a:spcBef>
                <a:spcPts val="0"/>
              </a:spcBef>
              <a:spcAft>
                <a:spcPts val="0"/>
              </a:spcAft>
              <a:buClr>
                <a:schemeClr val="dk1"/>
              </a:buClr>
              <a:buSzPts val="2400"/>
              <a:buFont typeface="Calibri"/>
              <a:buNone/>
            </a:pPr>
            <a:r>
              <a:rPr b="1" lang="fr-FR" sz="2400"/>
              <a:t>Tada Research Survey</a:t>
            </a:r>
            <a:endParaRPr/>
          </a:p>
        </p:txBody>
      </p:sp>
      <p:sp>
        <p:nvSpPr>
          <p:cNvPr id="100" name="Google Shape;100;p2"/>
          <p:cNvSpPr txBox="1"/>
          <p:nvPr>
            <p:ph idx="1" type="subTitle"/>
          </p:nvPr>
        </p:nvSpPr>
        <p:spPr>
          <a:xfrm>
            <a:off x="379428" y="2696066"/>
            <a:ext cx="8012784" cy="18853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fr-FR" sz="2400">
                <a:solidFill>
                  <a:schemeClr val="dk1"/>
                </a:solidFill>
              </a:rPr>
              <a:t>Ce document a été conçu comme un guide pratique pour accompagner les utilisateurs pas à pas dans l'utilisation de l'application Tada Research Survey.</a:t>
            </a:r>
            <a:br>
              <a:rPr lang="fr-FR" sz="2400">
                <a:solidFill>
                  <a:schemeClr val="dk1"/>
                </a:solidFill>
              </a:rPr>
            </a:br>
            <a:r>
              <a:rPr lang="fr-FR" sz="2400">
                <a:solidFill>
                  <a:schemeClr val="dk1"/>
                </a:solidFill>
              </a:rPr>
              <a:t>Vous y trouverez des captures d’écran annotées	</a:t>
            </a:r>
            <a:endParaRPr sz="2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3"/>
          <p:cNvSpPr txBox="1"/>
          <p:nvPr>
            <p:ph type="title"/>
          </p:nvPr>
        </p:nvSpPr>
        <p:spPr>
          <a:xfrm>
            <a:off x="457200" y="274638"/>
            <a:ext cx="8229600" cy="65861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fr-FR" sz="2800"/>
              <a:t>Présentation du Dashboard – Navigation principale</a:t>
            </a:r>
            <a:endParaRPr sz="2800"/>
          </a:p>
        </p:txBody>
      </p:sp>
      <p:sp>
        <p:nvSpPr>
          <p:cNvPr id="106" name="Google Shape;106;p3"/>
          <p:cNvSpPr txBox="1"/>
          <p:nvPr/>
        </p:nvSpPr>
        <p:spPr>
          <a:xfrm>
            <a:off x="683444" y="964685"/>
            <a:ext cx="775354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Le menu principal de l’application Tada Research Survey offre un accès structuré aux différentes fonctionnalités essentielles pour la gestion des enquêtes.</a:t>
            </a:r>
            <a:endParaRPr/>
          </a:p>
          <a:p>
            <a:pPr indent="0" lvl="0" marL="0" marR="0" rtl="0" algn="l">
              <a:spcBef>
                <a:spcPts val="0"/>
              </a:spcBef>
              <a:spcAft>
                <a:spcPts val="0"/>
              </a:spcAft>
              <a:buNone/>
            </a:pPr>
            <a:r>
              <a:rPr b="1" i="0" lang="fr-FR" sz="1800" u="none" cap="none" strike="noStrike">
                <a:solidFill>
                  <a:schemeClr val="dk1"/>
                </a:solidFill>
                <a:latin typeface="Calibri"/>
                <a:ea typeface="Calibri"/>
                <a:cs typeface="Calibri"/>
                <a:sym typeface="Calibri"/>
              </a:rPr>
              <a:t>Organisation : </a:t>
            </a:r>
            <a:r>
              <a:rPr b="0" i="0" lang="fr-FR" sz="1800" u="none" cap="none" strike="noStrike">
                <a:solidFill>
                  <a:schemeClr val="dk1"/>
                </a:solidFill>
                <a:latin typeface="Calibri"/>
                <a:ea typeface="Calibri"/>
                <a:cs typeface="Calibri"/>
                <a:sym typeface="Calibri"/>
              </a:rPr>
              <a:t>Créez une organisation, ajoutez des projets et structurez les questionnaires en chapitres.</a:t>
            </a:r>
            <a:endParaRPr/>
          </a:p>
          <a:p>
            <a:pPr indent="0" lvl="0" marL="0" marR="0" rtl="0" algn="l">
              <a:spcBef>
                <a:spcPts val="0"/>
              </a:spcBef>
              <a:spcAft>
                <a:spcPts val="0"/>
              </a:spcAft>
              <a:buNone/>
            </a:pPr>
            <a:r>
              <a:rPr b="1" i="0" lang="fr-FR" sz="1800" u="none" cap="none" strike="noStrike">
                <a:solidFill>
                  <a:schemeClr val="dk1"/>
                </a:solidFill>
                <a:latin typeface="Calibri"/>
                <a:ea typeface="Calibri"/>
                <a:cs typeface="Calibri"/>
                <a:sym typeface="Calibri"/>
              </a:rPr>
              <a:t>Questionnaires : </a:t>
            </a:r>
            <a:r>
              <a:rPr b="0" i="0" lang="fr-FR" sz="1800" u="none" cap="none" strike="noStrike">
                <a:solidFill>
                  <a:schemeClr val="dk1"/>
                </a:solidFill>
                <a:latin typeface="Calibri"/>
                <a:ea typeface="Calibri"/>
                <a:cs typeface="Calibri"/>
                <a:sym typeface="Calibri"/>
              </a:rPr>
              <a:t>Créez et gérez des questionnaires par projet.</a:t>
            </a:r>
            <a:endParaRPr/>
          </a:p>
          <a:p>
            <a:pPr indent="0" lvl="0" marL="0" marR="0" rtl="0" algn="l">
              <a:spcBef>
                <a:spcPts val="0"/>
              </a:spcBef>
              <a:spcAft>
                <a:spcPts val="0"/>
              </a:spcAft>
              <a:buNone/>
            </a:pPr>
            <a:r>
              <a:rPr b="1" i="0" lang="fr-FR" sz="1800" u="none" cap="none" strike="noStrike">
                <a:solidFill>
                  <a:schemeClr val="dk1"/>
                </a:solidFill>
                <a:latin typeface="Calibri"/>
                <a:ea typeface="Calibri"/>
                <a:cs typeface="Calibri"/>
                <a:sym typeface="Calibri"/>
              </a:rPr>
              <a:t>Insewers : </a:t>
            </a:r>
            <a:r>
              <a:rPr b="0" i="0" lang="fr-FR" sz="1800" u="none" cap="none" strike="noStrike">
                <a:solidFill>
                  <a:schemeClr val="dk1"/>
                </a:solidFill>
                <a:latin typeface="Calibri"/>
                <a:ea typeface="Calibri"/>
                <a:cs typeface="Calibri"/>
                <a:sym typeface="Calibri"/>
              </a:rPr>
              <a:t>Accédez à tous les questionnaires, modifiez les questions, consultez les réponses, suivez les quotas en temps réel et exportez les données en .sav ou .csv</a:t>
            </a:r>
            <a:endParaRPr/>
          </a:p>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107" name="Google Shape;107;p3"/>
          <p:cNvPicPr preferRelativeResize="0"/>
          <p:nvPr>
            <p:ph idx="1" type="body"/>
          </p:nvPr>
        </p:nvPicPr>
        <p:blipFill rotWithShape="1">
          <a:blip r:embed="rId4">
            <a:alphaModFix/>
          </a:blip>
          <a:srcRect b="0" l="0" r="0" t="0"/>
          <a:stretch/>
        </p:blipFill>
        <p:spPr>
          <a:xfrm>
            <a:off x="299817" y="3344581"/>
            <a:ext cx="8732423" cy="31070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4"/>
          <p:cNvSpPr txBox="1"/>
          <p:nvPr/>
        </p:nvSpPr>
        <p:spPr>
          <a:xfrm>
            <a:off x="457200" y="304603"/>
            <a:ext cx="77535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1800" u="none" cap="none" strike="noStrike">
                <a:solidFill>
                  <a:schemeClr val="dk1"/>
                </a:solidFill>
                <a:latin typeface="Calibri"/>
                <a:ea typeface="Calibri"/>
                <a:cs typeface="Calibri"/>
                <a:sym typeface="Calibri"/>
              </a:rPr>
              <a:t>Accéder au chapitre pour créer des questions</a:t>
            </a:r>
            <a:endParaRPr b="1" i="0" sz="1800" u="none" cap="none" strike="noStrike">
              <a:solidFill>
                <a:schemeClr val="dk1"/>
              </a:solidFill>
              <a:latin typeface="Calibri"/>
              <a:ea typeface="Calibri"/>
              <a:cs typeface="Calibri"/>
              <a:sym typeface="Calibri"/>
            </a:endParaRPr>
          </a:p>
        </p:txBody>
      </p:sp>
      <p:pic>
        <p:nvPicPr>
          <p:cNvPr id="113" name="Google Shape;113;p4"/>
          <p:cNvPicPr preferRelativeResize="0"/>
          <p:nvPr>
            <p:ph idx="1" type="body"/>
          </p:nvPr>
        </p:nvPicPr>
        <p:blipFill rotWithShape="1">
          <a:blip r:embed="rId4">
            <a:alphaModFix/>
          </a:blip>
          <a:srcRect b="0" l="0" r="0" t="0"/>
          <a:stretch/>
        </p:blipFill>
        <p:spPr>
          <a:xfrm>
            <a:off x="457200" y="1073550"/>
            <a:ext cx="8229600" cy="42381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5"/>
          <p:cNvSpPr txBox="1"/>
          <p:nvPr>
            <p:ph idx="1" type="subTitle"/>
          </p:nvPr>
        </p:nvSpPr>
        <p:spPr>
          <a:xfrm>
            <a:off x="640443" y="742043"/>
            <a:ext cx="3759200" cy="5765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rPr>
              <a:t>Création de questions – Fonctionnalités avancées</a:t>
            </a:r>
            <a:endParaRPr/>
          </a:p>
          <a:p>
            <a:pPr indent="0" lvl="0" marL="0" rtl="0" algn="l">
              <a:spcBef>
                <a:spcPts val="360"/>
              </a:spcBef>
              <a:spcAft>
                <a:spcPts val="0"/>
              </a:spcAft>
              <a:buClr>
                <a:schemeClr val="dk1"/>
              </a:buClr>
              <a:buSzPts val="1800"/>
              <a:buNone/>
            </a:pPr>
            <a:r>
              <a:rPr lang="fr-FR" sz="1800">
                <a:solidFill>
                  <a:schemeClr val="dk1"/>
                </a:solidFill>
                <a:latin typeface="Calibri"/>
                <a:ea typeface="Calibri"/>
                <a:cs typeface="Calibri"/>
                <a:sym typeface="Calibri"/>
              </a:rPr>
              <a:t>Lors de la création de questions, plusieurs options sont disponibles :</a:t>
            </a:r>
            <a:endParaRPr/>
          </a:p>
          <a:p>
            <a:pPr indent="0" lvl="0" marL="0" rtl="0" algn="l">
              <a:spcBef>
                <a:spcPts val="360"/>
              </a:spcBef>
              <a:spcAft>
                <a:spcPts val="0"/>
              </a:spcAft>
              <a:buClr>
                <a:schemeClr val="dk1"/>
              </a:buClr>
              <a:buSzPts val="1800"/>
              <a:buNone/>
            </a:pPr>
            <a:r>
              <a:rPr b="1" lang="fr-FR" sz="1800">
                <a:solidFill>
                  <a:schemeClr val="dk1"/>
                </a:solidFill>
                <a:latin typeface="Calibri"/>
                <a:ea typeface="Calibri"/>
                <a:cs typeface="Calibri"/>
                <a:sym typeface="Calibri"/>
              </a:rPr>
              <a:t>Tab "Question"</a:t>
            </a:r>
            <a:r>
              <a:rPr lang="fr-FR" sz="1800">
                <a:solidFill>
                  <a:schemeClr val="dk1"/>
                </a:solidFill>
                <a:latin typeface="Calibri"/>
                <a:ea typeface="Calibri"/>
                <a:cs typeface="Calibri"/>
                <a:sym typeface="Calibri"/>
              </a:rPr>
              <a:t> : </a:t>
            </a:r>
            <a:r>
              <a:rPr lang="fr-FR" sz="1800">
                <a:solidFill>
                  <a:schemeClr val="dk1"/>
                </a:solidFill>
              </a:rPr>
              <a:t>permet de sélectionner le type de question souhaité et de saisir le contenu de la question</a:t>
            </a:r>
            <a:endParaRPr sz="18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800"/>
              <a:buNone/>
            </a:pPr>
            <a:r>
              <a:rPr b="1" lang="fr-FR" sz="1800">
                <a:solidFill>
                  <a:schemeClr val="dk1"/>
                </a:solidFill>
                <a:latin typeface="Calibri"/>
                <a:ea typeface="Calibri"/>
                <a:cs typeface="Calibri"/>
                <a:sym typeface="Calibri"/>
              </a:rPr>
              <a:t>Tab "Condition"</a:t>
            </a:r>
            <a:r>
              <a:rPr lang="fr-FR" sz="1800">
                <a:solidFill>
                  <a:schemeClr val="dk1"/>
                </a:solidFill>
                <a:latin typeface="Calibri"/>
                <a:ea typeface="Calibri"/>
                <a:cs typeface="Calibri"/>
                <a:sym typeface="Calibri"/>
              </a:rPr>
              <a:t> : permet de définir des logiques conditionnelles pour :</a:t>
            </a:r>
            <a:br>
              <a:rPr lang="fr-FR" sz="1800">
                <a:solidFill>
                  <a:schemeClr val="dk1"/>
                </a:solidFill>
                <a:latin typeface="Calibri"/>
                <a:ea typeface="Calibri"/>
                <a:cs typeface="Calibri"/>
                <a:sym typeface="Calibri"/>
              </a:rPr>
            </a:br>
            <a:r>
              <a:rPr lang="fr-FR" sz="1800">
                <a:solidFill>
                  <a:schemeClr val="dk1"/>
                </a:solidFill>
                <a:latin typeface="Calibri"/>
                <a:ea typeface="Calibri"/>
                <a:cs typeface="Calibri"/>
                <a:sym typeface="Calibri"/>
              </a:rPr>
              <a:t>• Sauter certaines questions</a:t>
            </a:r>
            <a:br>
              <a:rPr lang="fr-FR" sz="1800">
                <a:solidFill>
                  <a:schemeClr val="dk1"/>
                </a:solidFill>
                <a:latin typeface="Calibri"/>
                <a:ea typeface="Calibri"/>
                <a:cs typeface="Calibri"/>
                <a:sym typeface="Calibri"/>
              </a:rPr>
            </a:br>
            <a:r>
              <a:rPr lang="fr-FR" sz="1800">
                <a:solidFill>
                  <a:schemeClr val="dk1"/>
                </a:solidFill>
                <a:latin typeface="Calibri"/>
                <a:ea typeface="Calibri"/>
                <a:cs typeface="Calibri"/>
                <a:sym typeface="Calibri"/>
              </a:rPr>
              <a:t>• Quitter le questionnaire si une réponse précise est donnée</a:t>
            </a:r>
            <a:endParaRPr/>
          </a:p>
          <a:p>
            <a:pPr indent="0" lvl="0" marL="0" rtl="0" algn="l">
              <a:spcBef>
                <a:spcPts val="360"/>
              </a:spcBef>
              <a:spcAft>
                <a:spcPts val="0"/>
              </a:spcAft>
              <a:buClr>
                <a:schemeClr val="dk1"/>
              </a:buClr>
              <a:buSzPts val="1800"/>
              <a:buNone/>
            </a:pPr>
            <a:r>
              <a:rPr b="1" lang="fr-FR" sz="1800">
                <a:solidFill>
                  <a:schemeClr val="dk1"/>
                </a:solidFill>
                <a:latin typeface="Calibri"/>
                <a:ea typeface="Calibri"/>
                <a:cs typeface="Calibri"/>
                <a:sym typeface="Calibri"/>
              </a:rPr>
              <a:t>Tab "Filtre"</a:t>
            </a:r>
            <a:r>
              <a:rPr lang="fr-FR" sz="1800">
                <a:solidFill>
                  <a:schemeClr val="dk1"/>
                </a:solidFill>
                <a:latin typeface="Calibri"/>
                <a:ea typeface="Calibri"/>
                <a:cs typeface="Calibri"/>
                <a:sym typeface="Calibri"/>
              </a:rPr>
              <a:t> : permet de masquer ou d’afficher certaines options en fonction des réponses précédentes (logique de modalité).</a:t>
            </a:r>
            <a:endParaRPr/>
          </a:p>
          <a:p>
            <a:pPr indent="0" lvl="0" marL="0" rtl="0" algn="l">
              <a:spcBef>
                <a:spcPts val="360"/>
              </a:spcBef>
              <a:spcAft>
                <a:spcPts val="0"/>
              </a:spcAft>
              <a:buClr>
                <a:srgbClr val="888888"/>
              </a:buClr>
              <a:buSzPts val="1800"/>
              <a:buNone/>
            </a:pPr>
            <a:r>
              <a:t/>
            </a:r>
            <a:endParaRPr sz="1800">
              <a:solidFill>
                <a:schemeClr val="dk1"/>
              </a:solidFill>
            </a:endParaRPr>
          </a:p>
        </p:txBody>
      </p:sp>
      <p:pic>
        <p:nvPicPr>
          <p:cNvPr id="119" name="Google Shape;119;p5"/>
          <p:cNvPicPr preferRelativeResize="0"/>
          <p:nvPr/>
        </p:nvPicPr>
        <p:blipFill rotWithShape="1">
          <a:blip r:embed="rId4">
            <a:alphaModFix/>
          </a:blip>
          <a:srcRect b="0" l="0" r="0" t="0"/>
          <a:stretch/>
        </p:blipFill>
        <p:spPr>
          <a:xfrm>
            <a:off x="4399642" y="622300"/>
            <a:ext cx="4603929" cy="511427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 name="Shape 123"/>
        <p:cNvGrpSpPr/>
        <p:nvPr/>
      </p:nvGrpSpPr>
      <p:grpSpPr>
        <a:xfrm>
          <a:off x="0" y="0"/>
          <a:ext cx="0" cy="0"/>
          <a:chOff x="0" y="0"/>
          <a:chExt cx="0" cy="0"/>
        </a:xfrm>
      </p:grpSpPr>
      <p:sp>
        <p:nvSpPr>
          <p:cNvPr id="124" name="Google Shape;124;p6"/>
          <p:cNvSpPr txBox="1"/>
          <p:nvPr>
            <p:ph idx="1" type="subTitle"/>
          </p:nvPr>
        </p:nvSpPr>
        <p:spPr>
          <a:xfrm>
            <a:off x="553357" y="393700"/>
            <a:ext cx="8416472" cy="57658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None/>
            </a:pPr>
            <a:r>
              <a:rPr b="1" lang="fr-FR" sz="2600">
                <a:solidFill>
                  <a:schemeClr val="dk1"/>
                </a:solidFill>
                <a:latin typeface="Calibri"/>
                <a:ea typeface="Calibri"/>
                <a:cs typeface="Calibri"/>
                <a:sym typeface="Calibri"/>
              </a:rPr>
              <a:t>Détails de l’onglet  « Question »</a:t>
            </a:r>
            <a:endParaRPr/>
          </a:p>
          <a:p>
            <a:pPr indent="0" lvl="0" marL="0" rtl="0" algn="l">
              <a:spcBef>
                <a:spcPts val="322"/>
              </a:spcBef>
              <a:spcAft>
                <a:spcPts val="0"/>
              </a:spcAft>
              <a:buClr>
                <a:srgbClr val="888888"/>
              </a:buClr>
              <a:buSzPct val="100000"/>
              <a:buNone/>
            </a:pPr>
            <a:r>
              <a:t/>
            </a:r>
            <a:endParaRPr b="1" sz="2300">
              <a:solidFill>
                <a:schemeClr val="dk1"/>
              </a:solidFill>
              <a:latin typeface="Calibri"/>
              <a:ea typeface="Calibri"/>
              <a:cs typeface="Calibri"/>
              <a:sym typeface="Calibri"/>
            </a:endParaRPr>
          </a:p>
          <a:p>
            <a:pPr indent="0" lvl="0" marL="0" rtl="0" algn="l">
              <a:spcBef>
                <a:spcPts val="364"/>
              </a:spcBef>
              <a:spcAft>
                <a:spcPts val="0"/>
              </a:spcAft>
              <a:buClr>
                <a:schemeClr val="dk1"/>
              </a:buClr>
              <a:buSzPct val="100000"/>
              <a:buNone/>
            </a:pPr>
            <a:r>
              <a:rPr lang="fr-FR" sz="2600">
                <a:solidFill>
                  <a:schemeClr val="dk1"/>
                </a:solidFill>
                <a:latin typeface="Calibri"/>
                <a:ea typeface="Calibri"/>
                <a:cs typeface="Calibri"/>
                <a:sym typeface="Calibri"/>
              </a:rPr>
              <a:t>L’onglet </a:t>
            </a:r>
            <a:r>
              <a:rPr b="1" lang="fr-FR" sz="2600">
                <a:solidFill>
                  <a:schemeClr val="dk1"/>
                </a:solidFill>
                <a:latin typeface="Calibri"/>
                <a:ea typeface="Calibri"/>
                <a:cs typeface="Calibri"/>
                <a:sym typeface="Calibri"/>
              </a:rPr>
              <a:t>"Question"</a:t>
            </a:r>
            <a:r>
              <a:rPr lang="fr-FR" sz="2600">
                <a:solidFill>
                  <a:schemeClr val="dk1"/>
                </a:solidFill>
                <a:latin typeface="Calibri"/>
                <a:ea typeface="Calibri"/>
                <a:cs typeface="Calibri"/>
                <a:sym typeface="Calibri"/>
              </a:rPr>
              <a:t> vous permet de configurer entièrement une question, à travers plusieurs options :</a:t>
            </a:r>
            <a:endParaRPr/>
          </a:p>
          <a:p>
            <a:pPr indent="0" lvl="0" marL="0" rtl="0" algn="l">
              <a:spcBef>
                <a:spcPts val="364"/>
              </a:spcBef>
              <a:spcAft>
                <a:spcPts val="0"/>
              </a:spcAft>
              <a:buClr>
                <a:schemeClr val="dk1"/>
              </a:buClr>
              <a:buSzPct val="100000"/>
              <a:buNone/>
            </a:pPr>
            <a:r>
              <a:rPr b="1" lang="fr-FR" sz="2600">
                <a:solidFill>
                  <a:schemeClr val="dk1"/>
                </a:solidFill>
                <a:latin typeface="Calibri"/>
                <a:ea typeface="Calibri"/>
                <a:cs typeface="Calibri"/>
                <a:sym typeface="Calibri"/>
              </a:rPr>
              <a:t>Zone de saisie de la question</a:t>
            </a:r>
            <a:r>
              <a:rPr lang="fr-FR" sz="2600">
                <a:solidFill>
                  <a:schemeClr val="dk1"/>
                </a:solidFill>
                <a:latin typeface="Calibri"/>
                <a:ea typeface="Calibri"/>
                <a:cs typeface="Calibri"/>
                <a:sym typeface="Calibri"/>
              </a:rPr>
              <a:t> : pour rédiger l’intitulé principal.</a:t>
            </a:r>
            <a:endParaRPr/>
          </a:p>
          <a:p>
            <a:pPr indent="0" lvl="0" marL="0" rtl="0" algn="l">
              <a:spcBef>
                <a:spcPts val="364"/>
              </a:spcBef>
              <a:spcAft>
                <a:spcPts val="0"/>
              </a:spcAft>
              <a:buClr>
                <a:schemeClr val="dk1"/>
              </a:buClr>
              <a:buSzPct val="100000"/>
              <a:buNone/>
            </a:pPr>
            <a:r>
              <a:rPr b="1" lang="fr-FR" sz="2600">
                <a:solidFill>
                  <a:schemeClr val="dk1"/>
                </a:solidFill>
                <a:latin typeface="Calibri"/>
                <a:ea typeface="Calibri"/>
                <a:cs typeface="Calibri"/>
                <a:sym typeface="Calibri"/>
              </a:rPr>
              <a:t>Zone de description</a:t>
            </a:r>
            <a:r>
              <a:rPr lang="fr-FR" sz="2600">
                <a:solidFill>
                  <a:schemeClr val="dk1"/>
                </a:solidFill>
                <a:latin typeface="Calibri"/>
                <a:ea typeface="Calibri"/>
                <a:cs typeface="Calibri"/>
                <a:sym typeface="Calibri"/>
              </a:rPr>
              <a:t> : pour ajouter un complément d’information à la question.</a:t>
            </a:r>
            <a:endParaRPr/>
          </a:p>
          <a:p>
            <a:pPr indent="0" lvl="0" marL="0" rtl="0" algn="l">
              <a:spcBef>
                <a:spcPts val="364"/>
              </a:spcBef>
              <a:spcAft>
                <a:spcPts val="0"/>
              </a:spcAft>
              <a:buClr>
                <a:schemeClr val="dk1"/>
              </a:buClr>
              <a:buSzPct val="100000"/>
              <a:buNone/>
            </a:pPr>
            <a:r>
              <a:rPr b="1" lang="fr-FR" sz="2600">
                <a:solidFill>
                  <a:schemeClr val="dk1"/>
                </a:solidFill>
                <a:latin typeface="Calibri"/>
                <a:ea typeface="Calibri"/>
                <a:cs typeface="Calibri"/>
                <a:sym typeface="Calibri"/>
              </a:rPr>
              <a:t>Case à cocher "Obligatoire"</a:t>
            </a:r>
            <a:r>
              <a:rPr lang="fr-FR" sz="2600">
                <a:solidFill>
                  <a:schemeClr val="dk1"/>
                </a:solidFill>
                <a:latin typeface="Calibri"/>
                <a:ea typeface="Calibri"/>
                <a:cs typeface="Calibri"/>
                <a:sym typeface="Calibri"/>
              </a:rPr>
              <a:t> : empêche l’utilisateur de passer la question sans y répondre.</a:t>
            </a:r>
            <a:endParaRPr/>
          </a:p>
          <a:p>
            <a:pPr indent="0" lvl="0" marL="0" rtl="0" algn="l">
              <a:spcBef>
                <a:spcPts val="364"/>
              </a:spcBef>
              <a:spcAft>
                <a:spcPts val="0"/>
              </a:spcAft>
              <a:buClr>
                <a:schemeClr val="dk1"/>
              </a:buClr>
              <a:buSzPct val="100000"/>
              <a:buNone/>
            </a:pPr>
            <a:r>
              <a:rPr b="1" lang="fr-FR" sz="2600">
                <a:solidFill>
                  <a:schemeClr val="dk1"/>
                </a:solidFill>
                <a:latin typeface="Calibri"/>
                <a:ea typeface="Calibri"/>
                <a:cs typeface="Calibri"/>
                <a:sym typeface="Calibri"/>
              </a:rPr>
              <a:t>Choix du type de question</a:t>
            </a:r>
            <a:r>
              <a:rPr lang="fr-FR" sz="2600">
                <a:solidFill>
                  <a:schemeClr val="dk1"/>
                </a:solidFill>
                <a:latin typeface="Calibri"/>
                <a:ea typeface="Calibri"/>
                <a:cs typeface="Calibri"/>
                <a:sym typeface="Calibri"/>
              </a:rPr>
              <a:t>, parmi :</a:t>
            </a:r>
            <a:endParaRPr/>
          </a:p>
          <a:p>
            <a:pPr indent="0" lvl="0" marL="0" rtl="0" algn="l">
              <a:spcBef>
                <a:spcPts val="364"/>
              </a:spcBef>
              <a:spcAft>
                <a:spcPts val="0"/>
              </a:spcAft>
              <a:buClr>
                <a:srgbClr val="888888"/>
              </a:buClr>
              <a:buSzPct val="100000"/>
              <a:buNone/>
            </a:pPr>
            <a:r>
              <a:t/>
            </a:r>
            <a:endParaRPr sz="2600">
              <a:solidFill>
                <a:schemeClr val="dk1"/>
              </a:solidFill>
              <a:latin typeface="Calibri"/>
              <a:ea typeface="Calibri"/>
              <a:cs typeface="Calibri"/>
              <a:sym typeface="Calibri"/>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Single Choice (choix unique)</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Multiple Choice (choix multiples)</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Reordable List (liste réordonnable)</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Likert Scale (échelle de satisfaction)</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Text (champ texte libre)</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Text Number (champ numérique)</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Checkbox</a:t>
            </a:r>
            <a:endParaRPr sz="2600">
              <a:solidFill>
                <a:schemeClr val="dk1"/>
              </a:solidFill>
              <a:latin typeface="Calibri"/>
              <a:ea typeface="Calibri"/>
              <a:cs typeface="Calibri"/>
              <a:sym typeface="Calibri"/>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Grid (grille de réponses)</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Dropdown (liste déroulante)</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None (sans type défini)</a:t>
            </a:r>
            <a:endParaRPr/>
          </a:p>
          <a:p>
            <a:pPr indent="-457200" lvl="0" marL="457200" rtl="0" algn="l">
              <a:spcBef>
                <a:spcPts val="364"/>
              </a:spcBef>
              <a:spcAft>
                <a:spcPts val="0"/>
              </a:spcAft>
              <a:buClr>
                <a:schemeClr val="dk1"/>
              </a:buClr>
              <a:buSzPct val="100000"/>
              <a:buFont typeface="Arial"/>
              <a:buChar char="•"/>
            </a:pPr>
            <a:r>
              <a:rPr lang="fr-FR" sz="2600">
                <a:solidFill>
                  <a:schemeClr val="dk1"/>
                </a:solidFill>
                <a:latin typeface="Calibri"/>
                <a:ea typeface="Calibri"/>
                <a:cs typeface="Calibri"/>
                <a:sym typeface="Calibri"/>
              </a:rPr>
              <a:t>Text Regex (éditeur de texte avec validation par expression régulière)</a:t>
            </a:r>
            <a:endParaRPr/>
          </a:p>
          <a:p>
            <a:pPr indent="0" lvl="0" marL="0" rtl="0" algn="l">
              <a:spcBef>
                <a:spcPts val="252"/>
              </a:spcBef>
              <a:spcAft>
                <a:spcPts val="0"/>
              </a:spcAft>
              <a:buClr>
                <a:srgbClr val="888888"/>
              </a:buClr>
              <a:buSzPct val="100000"/>
              <a:buNone/>
            </a:pPr>
            <a:r>
              <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7"/>
          <p:cNvSpPr txBox="1"/>
          <p:nvPr>
            <p:ph idx="1" type="subTitle"/>
          </p:nvPr>
        </p:nvSpPr>
        <p:spPr>
          <a:xfrm>
            <a:off x="688340" y="953770"/>
            <a:ext cx="8455660" cy="49504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rPr>
              <a:t>Options supplémentaires selon le type :</a:t>
            </a:r>
            <a:endParaRPr/>
          </a:p>
          <a:p>
            <a:pPr indent="0" lvl="0" marL="0" rtl="0" algn="l">
              <a:spcBef>
                <a:spcPts val="360"/>
              </a:spcBef>
              <a:spcAft>
                <a:spcPts val="0"/>
              </a:spcAft>
              <a:buClr>
                <a:srgbClr val="888888"/>
              </a:buClr>
              <a:buSzPts val="1800"/>
              <a:buNone/>
            </a:pPr>
            <a:r>
              <a:t/>
            </a:r>
            <a:endParaRPr b="1" sz="1800">
              <a:solidFill>
                <a:schemeClr val="dk1"/>
              </a:solidFill>
            </a:endParaRPr>
          </a:p>
          <a:p>
            <a:pPr indent="0" lvl="0" marL="0" rtl="0" algn="l">
              <a:spcBef>
                <a:spcPts val="0"/>
              </a:spcBef>
              <a:spcAft>
                <a:spcPts val="0"/>
              </a:spcAft>
              <a:buClr>
                <a:schemeClr val="dk1"/>
              </a:buClr>
              <a:buSzPts val="1900"/>
              <a:buNone/>
            </a:pPr>
            <a:r>
              <a:rPr b="1" lang="fr-FR" sz="1900">
                <a:solidFill>
                  <a:schemeClr val="dk1"/>
                </a:solidFill>
                <a:latin typeface="Calibri"/>
                <a:ea typeface="Calibri"/>
                <a:cs typeface="Calibri"/>
                <a:sym typeface="Calibri"/>
              </a:rPr>
              <a:t>Randomisation</a:t>
            </a:r>
            <a:r>
              <a:rPr lang="fr-FR" sz="1900">
                <a:solidFill>
                  <a:schemeClr val="dk1"/>
                </a:solidFill>
                <a:latin typeface="Calibri"/>
                <a:ea typeface="Calibri"/>
                <a:cs typeface="Calibri"/>
                <a:sym typeface="Calibri"/>
              </a:rPr>
              <a:t> : pour Single Choice et Multiple Choice, vous pouvez cocher une case pour aléatoiriser l’ordre des modalités.</a:t>
            </a:r>
            <a:endParaRPr/>
          </a:p>
          <a:p>
            <a:pPr indent="0" lvl="0" marL="0" rtl="0" algn="l">
              <a:spcBef>
                <a:spcPts val="0"/>
              </a:spcBef>
              <a:spcAft>
                <a:spcPts val="0"/>
              </a:spcAft>
              <a:buClr>
                <a:schemeClr val="dk1"/>
              </a:buClr>
              <a:buSzPts val="1900"/>
              <a:buNone/>
            </a:pPr>
            <a:r>
              <a:rPr b="1" lang="fr-FR" sz="1900">
                <a:solidFill>
                  <a:schemeClr val="dk1"/>
                </a:solidFill>
                <a:latin typeface="Calibri"/>
                <a:ea typeface="Calibri"/>
                <a:cs typeface="Calibri"/>
                <a:sym typeface="Calibri"/>
              </a:rPr>
              <a:t>Question scorée (Score &amp; Code 999)</a:t>
            </a:r>
            <a:r>
              <a:rPr lang="fr-FR" sz="1900">
                <a:solidFill>
                  <a:schemeClr val="dk1"/>
                </a:solidFill>
                <a:latin typeface="Calibri"/>
                <a:ea typeface="Calibri"/>
                <a:cs typeface="Calibri"/>
                <a:sym typeface="Calibri"/>
              </a:rPr>
              <a:t> : dans les questions CSP ou autres, vous pouvez attribuer des scores aux options et définir un code 999 pour quitter automatiquement le questionnaire selon certaines réponses.</a:t>
            </a:r>
            <a:endParaRPr/>
          </a:p>
          <a:p>
            <a:pPr indent="0" lvl="0" marL="0" rtl="0" algn="l">
              <a:spcBef>
                <a:spcPts val="0"/>
              </a:spcBef>
              <a:spcAft>
                <a:spcPts val="0"/>
              </a:spcAft>
              <a:buClr>
                <a:schemeClr val="dk1"/>
              </a:buClr>
              <a:buSzPts val="1900"/>
              <a:buNone/>
            </a:pPr>
            <a:r>
              <a:rPr b="1" lang="fr-FR" sz="1900">
                <a:solidFill>
                  <a:schemeClr val="dk1"/>
                </a:solidFill>
                <a:latin typeface="Calibri"/>
                <a:ea typeface="Calibri"/>
                <a:cs typeface="Calibri"/>
                <a:sym typeface="Calibri"/>
              </a:rPr>
              <a:t>Affichage conditionnel</a:t>
            </a:r>
            <a:r>
              <a:rPr lang="fr-FR" sz="1900">
                <a:solidFill>
                  <a:schemeClr val="dk1"/>
                </a:solidFill>
                <a:latin typeface="Calibri"/>
                <a:ea typeface="Calibri"/>
                <a:cs typeface="Calibri"/>
                <a:sym typeface="Calibri"/>
              </a:rPr>
              <a:t> : possibilité de déclencher l’apparition d’un éditeur de texte selon la modalité sélectionnée.</a:t>
            </a:r>
            <a:endParaRPr/>
          </a:p>
          <a:p>
            <a:pPr indent="0" lvl="0" marL="0" rtl="0" algn="l">
              <a:spcBef>
                <a:spcPts val="0"/>
              </a:spcBef>
              <a:spcAft>
                <a:spcPts val="0"/>
              </a:spcAft>
              <a:buClr>
                <a:schemeClr val="dk1"/>
              </a:buClr>
              <a:buSzPts val="1900"/>
              <a:buNone/>
            </a:pPr>
            <a:r>
              <a:rPr b="1" lang="fr-FR" sz="1900">
                <a:solidFill>
                  <a:schemeClr val="dk1"/>
                </a:solidFill>
                <a:latin typeface="Calibri"/>
                <a:ea typeface="Calibri"/>
                <a:cs typeface="Calibri"/>
                <a:sym typeface="Calibri"/>
              </a:rPr>
              <a:t>Options spécifiques CSP</a:t>
            </a:r>
            <a:r>
              <a:rPr lang="fr-FR" sz="1900">
                <a:solidFill>
                  <a:schemeClr val="dk1"/>
                </a:solidFill>
                <a:latin typeface="Calibri"/>
                <a:ea typeface="Calibri"/>
                <a:cs typeface="Calibri"/>
                <a:sym typeface="Calibri"/>
              </a:rPr>
              <a:t> :</a:t>
            </a:r>
            <a:endParaRPr/>
          </a:p>
          <a:p>
            <a:pPr indent="0" lvl="0" marL="0" rtl="0" algn="l">
              <a:spcBef>
                <a:spcPts val="0"/>
              </a:spcBef>
              <a:spcAft>
                <a:spcPts val="0"/>
              </a:spcAft>
              <a:buClr>
                <a:schemeClr val="dk1"/>
              </a:buClr>
              <a:buSzPts val="1900"/>
              <a:buNone/>
            </a:pPr>
            <a:r>
              <a:rPr lang="fr-FR" sz="1900">
                <a:solidFill>
                  <a:schemeClr val="dk1"/>
                </a:solidFill>
                <a:latin typeface="Calibri"/>
                <a:ea typeface="Calibri"/>
                <a:cs typeface="Calibri"/>
                <a:sym typeface="Calibri"/>
              </a:rPr>
              <a:t>Case "Question CSP" pour l’identifier comme faisant partie du profil socio-démographique</a:t>
            </a:r>
            <a:endParaRPr/>
          </a:p>
          <a:p>
            <a:pPr indent="0" lvl="0" marL="0" rtl="0" algn="l">
              <a:spcBef>
                <a:spcPts val="0"/>
              </a:spcBef>
              <a:spcAft>
                <a:spcPts val="0"/>
              </a:spcAft>
              <a:buClr>
                <a:schemeClr val="dk1"/>
              </a:buClr>
              <a:buSzPts val="1900"/>
              <a:buNone/>
            </a:pPr>
            <a:r>
              <a:rPr lang="fr-FR" sz="1900">
                <a:solidFill>
                  <a:schemeClr val="dk1"/>
                </a:solidFill>
                <a:latin typeface="Calibri"/>
                <a:ea typeface="Calibri"/>
                <a:cs typeface="Calibri"/>
                <a:sym typeface="Calibri"/>
              </a:rPr>
              <a:t>Case "Dernière question CSP" pour déterminer la dernière question de CSP</a:t>
            </a:r>
            <a:endParaRPr/>
          </a:p>
          <a:p>
            <a:pPr indent="0" lvl="0" marL="0" rtl="0" algn="l">
              <a:spcBef>
                <a:spcPts val="0"/>
              </a:spcBef>
              <a:spcAft>
                <a:spcPts val="0"/>
              </a:spcAft>
              <a:buClr>
                <a:srgbClr val="888888"/>
              </a:buClr>
              <a:buSzPts val="1800"/>
              <a:buNone/>
            </a:pPr>
            <a:r>
              <a:t/>
            </a:r>
            <a:endParaRPr sz="1800">
              <a:solidFill>
                <a:schemeClr val="dk1"/>
              </a:solidFill>
              <a:latin typeface="Arial"/>
              <a:ea typeface="Arial"/>
              <a:cs typeface="Arial"/>
              <a:sym typeface="Arial"/>
            </a:endParaRPr>
          </a:p>
          <a:p>
            <a:pPr indent="0" lvl="0" marL="0" rtl="0" algn="l">
              <a:spcBef>
                <a:spcPts val="360"/>
              </a:spcBef>
              <a:spcAft>
                <a:spcPts val="0"/>
              </a:spcAft>
              <a:buClr>
                <a:srgbClr val="888888"/>
              </a:buClr>
              <a:buSzPts val="1800"/>
              <a:buNone/>
            </a:pPr>
            <a:r>
              <a:t/>
            </a:r>
            <a:endParaRPr b="1" sz="1800">
              <a:solidFill>
                <a:schemeClr val="dk1"/>
              </a:solidFill>
            </a:endParaRPr>
          </a:p>
          <a:p>
            <a:pPr indent="0" lvl="0" marL="0" rtl="0" algn="l">
              <a:spcBef>
                <a:spcPts val="360"/>
              </a:spcBef>
              <a:spcAft>
                <a:spcPts val="0"/>
              </a:spcAft>
              <a:buClr>
                <a:srgbClr val="888888"/>
              </a:buClr>
              <a:buSzPts val="1800"/>
              <a:buNone/>
            </a:pPr>
            <a:r>
              <a:t/>
            </a:r>
            <a:endParaRPr sz="1800">
              <a:solidFill>
                <a:schemeClr val="dk1"/>
              </a:solidFill>
            </a:endParaRPr>
          </a:p>
        </p:txBody>
      </p:sp>
      <p:sp>
        <p:nvSpPr>
          <p:cNvPr id="130" name="Google Shape;130;p7"/>
          <p:cNvSpPr/>
          <p:nvPr/>
        </p:nvSpPr>
        <p:spPr>
          <a:xfrm>
            <a:off x="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8"/>
          <p:cNvSpPr/>
          <p:nvPr/>
        </p:nvSpPr>
        <p:spPr>
          <a:xfrm>
            <a:off x="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36" name="Google Shape;136;p8"/>
          <p:cNvPicPr preferRelativeResize="0"/>
          <p:nvPr/>
        </p:nvPicPr>
        <p:blipFill rotWithShape="1">
          <a:blip r:embed="rId4">
            <a:alphaModFix/>
          </a:blip>
          <a:srcRect b="0" l="0" r="0" t="0"/>
          <a:stretch/>
        </p:blipFill>
        <p:spPr>
          <a:xfrm>
            <a:off x="184731" y="406400"/>
            <a:ext cx="8724053" cy="49072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9"/>
          <p:cNvSpPr txBox="1"/>
          <p:nvPr>
            <p:ph idx="1" type="subTitle"/>
          </p:nvPr>
        </p:nvSpPr>
        <p:spPr>
          <a:xfrm>
            <a:off x="76200" y="304800"/>
            <a:ext cx="9017000" cy="38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latin typeface="Calibri"/>
                <a:ea typeface="Calibri"/>
                <a:cs typeface="Calibri"/>
                <a:sym typeface="Calibri"/>
              </a:rPr>
              <a:t>Type texte avec regex </a:t>
            </a:r>
            <a:endParaRPr/>
          </a:p>
        </p:txBody>
      </p:sp>
      <p:sp>
        <p:nvSpPr>
          <p:cNvPr id="142" name="Google Shape;142;p9"/>
          <p:cNvSpPr txBox="1"/>
          <p:nvPr/>
        </p:nvSpPr>
        <p:spPr>
          <a:xfrm>
            <a:off x="266700" y="825500"/>
            <a:ext cx="8343900" cy="5727700"/>
          </a:xfrm>
          <a:prstGeom prst="rect">
            <a:avLst/>
          </a:prstGeom>
          <a:noFill/>
          <a:ln>
            <a:noFill/>
          </a:ln>
        </p:spPr>
        <p:txBody>
          <a:bodyPr anchorCtr="0" anchor="t" bIns="45700" lIns="91425" spcFirstLastPara="1" rIns="91425" wrap="square" tIns="45700">
            <a:normAutofit fontScale="92500"/>
          </a:bodyPr>
          <a:lstStyle/>
          <a:p>
            <a:pPr indent="0" lvl="0" marL="0" marR="0" rtl="0" algn="l">
              <a:spcBef>
                <a:spcPts val="0"/>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Un champ de type texte avec regex (expression régulière) permet de valider automatiquement que le texte saisi respecte un certain format précis. Cela est utile pour s'assurer que l'utilisateur entre des données correctes, comme un code postal, une date, un numéro de téléphone, ou une adresse e-mail. Les regex sont des formules utilisées pour décrire ces formats attendus. </a:t>
            </a:r>
            <a:endParaRPr/>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Exemples de regex courantes : </a:t>
            </a:r>
            <a:endParaRPr/>
          </a:p>
          <a:p>
            <a:pPr indent="-342900" lvl="0" marL="342900" marR="0" rtl="0" algn="l">
              <a:spcBef>
                <a:spcPts val="333"/>
              </a:spcBef>
              <a:spcAft>
                <a:spcPts val="0"/>
              </a:spcAft>
              <a:buClr>
                <a:schemeClr val="dk1"/>
              </a:buClr>
              <a:buSzPct val="100000"/>
              <a:buAutoNum type="arabicPeriod"/>
            </a:pPr>
            <a:r>
              <a:rPr b="1" i="0" lang="fr-FR" sz="1800" u="none" cap="none" strike="noStrike">
                <a:solidFill>
                  <a:schemeClr val="dk1"/>
                </a:solidFill>
                <a:latin typeface="Calibri"/>
                <a:ea typeface="Calibri"/>
                <a:cs typeface="Calibri"/>
                <a:sym typeface="Calibri"/>
              </a:rPr>
              <a:t>Code postal algérien regex </a:t>
            </a:r>
            <a:endParaRPr b="1"/>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^16[0-9]{3}|0[1-9][0-9]{3}|[1-4][0-9]{3}|5[0-8][0-9]{2}$ </a:t>
            </a:r>
            <a:endParaRPr/>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Valide les codes postaux algériens à 5 chiffres. </a:t>
            </a:r>
            <a:endParaRPr/>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Exemples : 16000, 01000, 58000 </a:t>
            </a:r>
            <a:endParaRPr/>
          </a:p>
          <a:p>
            <a:pPr indent="0" lvl="0" marL="0" marR="0" rtl="0" algn="l">
              <a:spcBef>
                <a:spcPts val="333"/>
              </a:spcBef>
              <a:spcAft>
                <a:spcPts val="0"/>
              </a:spcAft>
              <a:buClr>
                <a:schemeClr val="dk1"/>
              </a:buClr>
              <a:buSzPct val="100000"/>
              <a:buFont typeface="Arial"/>
              <a:buNone/>
            </a:pPr>
            <a:r>
              <a:rPr b="1" i="0" lang="fr-FR" sz="1800" u="none" cap="none" strike="noStrike">
                <a:solidFill>
                  <a:schemeClr val="dk1"/>
                </a:solidFill>
                <a:latin typeface="Calibri"/>
                <a:ea typeface="Calibri"/>
                <a:cs typeface="Calibri"/>
                <a:sym typeface="Calibri"/>
              </a:rPr>
              <a:t> 2. Date au format JJ/MM/AAAA </a:t>
            </a:r>
            <a:endParaRPr b="1"/>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^(0[1-9]|[12][0-9]|3[01])/(0[1-9]|1[0-2])/\d{4}$ Valide les dates au format français. Exemple : 01/01/2023</a:t>
            </a:r>
            <a:endParaRPr/>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 </a:t>
            </a:r>
            <a:r>
              <a:rPr b="1" i="0" lang="fr-FR" sz="1800" u="none" cap="none" strike="noStrike">
                <a:solidFill>
                  <a:schemeClr val="dk1"/>
                </a:solidFill>
                <a:latin typeface="Calibri"/>
                <a:ea typeface="Calibri"/>
                <a:cs typeface="Calibri"/>
                <a:sym typeface="Calibri"/>
              </a:rPr>
              <a:t>3. Numéro de téléphone algérien </a:t>
            </a:r>
            <a:endParaRPr b="1"/>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^0(5|6|7)[0-9]{8}$|^0(2|3|4|9)[0-9]{7}$</a:t>
            </a:r>
            <a:endParaRPr/>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 Valide : Mobiles : 0551234567, 0669876543 Fixes : 021234567, 034567890</a:t>
            </a:r>
            <a:endParaRPr/>
          </a:p>
          <a:p>
            <a:pPr indent="0" lvl="0" marL="0" marR="0" rtl="0" algn="l">
              <a:spcBef>
                <a:spcPts val="333"/>
              </a:spcBef>
              <a:spcAft>
                <a:spcPts val="0"/>
              </a:spcAft>
              <a:buClr>
                <a:schemeClr val="dk1"/>
              </a:buClr>
              <a:buSzPct val="100000"/>
              <a:buFont typeface="Arial"/>
              <a:buNone/>
            </a:pPr>
            <a:r>
              <a:rPr b="1" i="0" lang="fr-FR" sz="1800" u="none" cap="none" strike="noStrike">
                <a:solidFill>
                  <a:schemeClr val="dk1"/>
                </a:solidFill>
                <a:latin typeface="Calibri"/>
                <a:ea typeface="Calibri"/>
                <a:cs typeface="Calibri"/>
                <a:sym typeface="Calibri"/>
              </a:rPr>
              <a:t>  4. Adresse e-mail </a:t>
            </a:r>
            <a:endParaRPr b="1"/>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^[a-zA-Z0-9._%+-]+@[a-zA-Z0-9.-]+\.[a-zA-Z]{2,}$ </a:t>
            </a:r>
            <a:endParaRPr/>
          </a:p>
          <a:p>
            <a:pPr indent="0" lvl="0" marL="0" marR="0" rtl="0" algn="l">
              <a:spcBef>
                <a:spcPts val="333"/>
              </a:spcBef>
              <a:spcAft>
                <a:spcPts val="0"/>
              </a:spcAft>
              <a:buClr>
                <a:schemeClr val="dk1"/>
              </a:buClr>
              <a:buSzPct val="100000"/>
              <a:buFont typeface="Arial"/>
              <a:buNone/>
            </a:pPr>
            <a:r>
              <a:rPr b="0" i="0" lang="fr-FR" sz="1800" u="none" cap="none" strike="noStrike">
                <a:solidFill>
                  <a:schemeClr val="dk1"/>
                </a:solidFill>
                <a:latin typeface="Calibri"/>
                <a:ea typeface="Calibri"/>
                <a:cs typeface="Calibri"/>
                <a:sym typeface="Calibri"/>
              </a:rPr>
              <a:t>Valide une adresse e-mail standard. Exemples : exemple@gmail.com, nom.prenom@yahoo.fr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10"/>
          <p:cNvSpPr txBox="1"/>
          <p:nvPr>
            <p:ph idx="1" type="subTitle"/>
          </p:nvPr>
        </p:nvSpPr>
        <p:spPr>
          <a:xfrm>
            <a:off x="76200" y="304800"/>
            <a:ext cx="9017000" cy="38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latin typeface="Calibri"/>
                <a:ea typeface="Calibri"/>
                <a:cs typeface="Calibri"/>
                <a:sym typeface="Calibri"/>
              </a:rPr>
              <a:t>Type texte avec regex </a:t>
            </a:r>
            <a:endParaRPr/>
          </a:p>
        </p:txBody>
      </p:sp>
      <p:sp>
        <p:nvSpPr>
          <p:cNvPr id="148" name="Google Shape;148;p10"/>
          <p:cNvSpPr txBox="1"/>
          <p:nvPr/>
        </p:nvSpPr>
        <p:spPr>
          <a:xfrm>
            <a:off x="266700" y="825500"/>
            <a:ext cx="8343900" cy="572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888888"/>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9" name="Google Shape;149;p10"/>
          <p:cNvPicPr preferRelativeResize="0"/>
          <p:nvPr/>
        </p:nvPicPr>
        <p:blipFill rotWithShape="1">
          <a:blip r:embed="rId4">
            <a:alphaModFix/>
          </a:blip>
          <a:srcRect b="0" l="0" r="0" t="0"/>
          <a:stretch/>
        </p:blipFill>
        <p:spPr>
          <a:xfrm>
            <a:off x="433120" y="825500"/>
            <a:ext cx="8303160" cy="55014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11"/>
          <p:cNvSpPr txBox="1"/>
          <p:nvPr>
            <p:ph idx="1" type="subTitle"/>
          </p:nvPr>
        </p:nvSpPr>
        <p:spPr>
          <a:xfrm>
            <a:off x="76200" y="304800"/>
            <a:ext cx="9017000" cy="38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latin typeface="Calibri"/>
                <a:ea typeface="Calibri"/>
                <a:cs typeface="Calibri"/>
                <a:sym typeface="Calibri"/>
              </a:rPr>
              <a:t>Onglet « Conditions » – Redirections logiques</a:t>
            </a:r>
            <a:endParaRPr/>
          </a:p>
          <a:p>
            <a:pPr indent="0" lvl="0" marL="0" rtl="0" algn="l">
              <a:spcBef>
                <a:spcPts val="900"/>
              </a:spcBef>
              <a:spcAft>
                <a:spcPts val="0"/>
              </a:spcAft>
              <a:buClr>
                <a:srgbClr val="888888"/>
              </a:buClr>
              <a:buSzPts val="4500"/>
              <a:buNone/>
            </a:pPr>
            <a:r>
              <a:t/>
            </a:r>
            <a:endParaRPr b="1" sz="4500">
              <a:solidFill>
                <a:schemeClr val="dk1"/>
              </a:solidFill>
              <a:latin typeface="Calibri"/>
              <a:ea typeface="Calibri"/>
              <a:cs typeface="Calibri"/>
              <a:sym typeface="Calibri"/>
            </a:endParaRPr>
          </a:p>
          <a:p>
            <a:pPr indent="0" lvl="0" marL="0" rtl="0" algn="l">
              <a:spcBef>
                <a:spcPts val="360"/>
              </a:spcBef>
              <a:spcAft>
                <a:spcPts val="0"/>
              </a:spcAft>
              <a:buClr>
                <a:srgbClr val="888888"/>
              </a:buClr>
              <a:buSzPts val="1800"/>
              <a:buNone/>
            </a:pPr>
            <a:r>
              <a:t/>
            </a:r>
            <a:endParaRPr sz="1800">
              <a:solidFill>
                <a:schemeClr val="dk1"/>
              </a:solidFill>
            </a:endParaRPr>
          </a:p>
        </p:txBody>
      </p:sp>
      <p:sp>
        <p:nvSpPr>
          <p:cNvPr id="155" name="Google Shape;155;p11"/>
          <p:cNvSpPr txBox="1"/>
          <p:nvPr/>
        </p:nvSpPr>
        <p:spPr>
          <a:xfrm>
            <a:off x="266700" y="990600"/>
            <a:ext cx="8343900" cy="57277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spcBef>
                <a:spcPts val="0"/>
              </a:spcBef>
              <a:spcAft>
                <a:spcPts val="0"/>
              </a:spcAft>
              <a:buClr>
                <a:schemeClr val="dk1"/>
              </a:buClr>
              <a:buSzPct val="100000"/>
              <a:buFont typeface="Arial"/>
              <a:buNone/>
            </a:pPr>
            <a:r>
              <a:rPr b="0" i="0" lang="fr-FR" sz="1900" u="none" cap="none" strike="noStrike">
                <a:solidFill>
                  <a:schemeClr val="dk1"/>
                </a:solidFill>
                <a:latin typeface="Calibri"/>
                <a:ea typeface="Calibri"/>
                <a:cs typeface="Calibri"/>
                <a:sym typeface="Calibri"/>
              </a:rPr>
              <a:t>Cette section permet de définir des </a:t>
            </a:r>
            <a:r>
              <a:rPr b="1" i="0" lang="fr-FR" sz="1900" u="none" cap="none" strike="noStrike">
                <a:solidFill>
                  <a:schemeClr val="dk1"/>
                </a:solidFill>
                <a:latin typeface="Calibri"/>
                <a:ea typeface="Calibri"/>
                <a:cs typeface="Calibri"/>
                <a:sym typeface="Calibri"/>
              </a:rPr>
              <a:t>conditions logiques</a:t>
            </a:r>
            <a:r>
              <a:rPr b="0" i="0" lang="fr-FR" sz="1900" u="none" cap="none" strike="noStrike">
                <a:solidFill>
                  <a:schemeClr val="dk1"/>
                </a:solidFill>
                <a:latin typeface="Calibri"/>
                <a:ea typeface="Calibri"/>
                <a:cs typeface="Calibri"/>
                <a:sym typeface="Calibri"/>
              </a:rPr>
              <a:t> pour </a:t>
            </a:r>
            <a:r>
              <a:rPr b="1" i="0" lang="fr-FR" sz="1900" u="none" cap="none" strike="noStrike">
                <a:solidFill>
                  <a:schemeClr val="dk1"/>
                </a:solidFill>
                <a:latin typeface="Calibri"/>
                <a:ea typeface="Calibri"/>
                <a:cs typeface="Calibri"/>
                <a:sym typeface="Calibri"/>
              </a:rPr>
              <a:t>rediriger automatiquement</a:t>
            </a:r>
            <a:r>
              <a:rPr b="0" i="0" lang="fr-FR" sz="1900" u="none" cap="none" strike="noStrike">
                <a:solidFill>
                  <a:schemeClr val="dk1"/>
                </a:solidFill>
                <a:latin typeface="Calibri"/>
                <a:ea typeface="Calibri"/>
                <a:cs typeface="Calibri"/>
                <a:sym typeface="Calibri"/>
              </a:rPr>
              <a:t> le répondant vers une autre question, ou quitter le questionnaire, en fonction de ses réponses précédentes.</a:t>
            </a:r>
            <a:endParaRPr b="1"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ct val="100000"/>
              <a:buFont typeface="Arial"/>
              <a:buNone/>
            </a:pPr>
            <a:r>
              <a:rPr b="1" i="0" lang="fr-FR" sz="1900" u="none" cap="none" strike="noStrike">
                <a:solidFill>
                  <a:schemeClr val="dk1"/>
                </a:solidFill>
                <a:latin typeface="Calibri"/>
                <a:ea typeface="Calibri"/>
                <a:cs typeface="Calibri"/>
                <a:sym typeface="Calibri"/>
              </a:rPr>
              <a:t>Fonctionnement étape par étape :</a:t>
            </a:r>
            <a:endParaRPr/>
          </a:p>
          <a:p>
            <a:pPr indent="-111601" lvl="0" marL="0" marR="0" rtl="0" algn="l">
              <a:spcBef>
                <a:spcPts val="0"/>
              </a:spcBef>
              <a:spcAft>
                <a:spcPts val="0"/>
              </a:spcAft>
              <a:buClr>
                <a:schemeClr val="dk1"/>
              </a:buClr>
              <a:buSzPct val="100000"/>
              <a:buFont typeface="Arial"/>
              <a:buAutoNum type="arabicPeriod"/>
            </a:pPr>
            <a:r>
              <a:rPr b="1" i="0" lang="fr-FR" sz="1900" u="none" cap="none" strike="noStrike">
                <a:solidFill>
                  <a:schemeClr val="dk1"/>
                </a:solidFill>
                <a:latin typeface="Calibri"/>
                <a:ea typeface="Calibri"/>
                <a:cs typeface="Calibri"/>
                <a:sym typeface="Calibri"/>
              </a:rPr>
              <a:t>Choix du type de logique</a:t>
            </a:r>
            <a:r>
              <a:rPr b="0" i="0" lang="fr-FR" sz="1900" u="none" cap="none" strike="noStrike">
                <a:solidFill>
                  <a:schemeClr val="dk1"/>
                </a:solidFill>
                <a:latin typeface="Calibri"/>
                <a:ea typeface="Calibri"/>
                <a:cs typeface="Calibri"/>
                <a:sym typeface="Calibri"/>
              </a:rPr>
              <a:t> :</a:t>
            </a:r>
            <a:br>
              <a:rPr b="0" i="0" lang="fr-FR" sz="1900" u="none" cap="none" strike="noStrike">
                <a:solidFill>
                  <a:schemeClr val="dk1"/>
                </a:solidFill>
                <a:latin typeface="Calibri"/>
                <a:ea typeface="Calibri"/>
                <a:cs typeface="Calibri"/>
                <a:sym typeface="Calibri"/>
              </a:rPr>
            </a:br>
            <a:r>
              <a:rPr b="0" i="0" lang="fr-FR" sz="1900" u="none" cap="none" strike="noStrike">
                <a:solidFill>
                  <a:schemeClr val="dk1"/>
                </a:solidFill>
                <a:latin typeface="Calibri"/>
                <a:ea typeface="Calibri"/>
                <a:cs typeface="Calibri"/>
                <a:sym typeface="Calibri"/>
              </a:rPr>
              <a:t>Dans le premier menu déroulant, vous pouvez choisir entre </a:t>
            </a:r>
            <a:r>
              <a:rPr b="1" i="0" lang="fr-FR" sz="1900" u="none" cap="none" strike="noStrike">
                <a:solidFill>
                  <a:schemeClr val="dk1"/>
                </a:solidFill>
                <a:latin typeface="Calibri"/>
                <a:ea typeface="Calibri"/>
                <a:cs typeface="Calibri"/>
                <a:sym typeface="Calibri"/>
              </a:rPr>
              <a:t>AND</a:t>
            </a:r>
            <a:r>
              <a:rPr b="0" i="0" lang="fr-FR" sz="1900" u="none" cap="none" strike="noStrike">
                <a:solidFill>
                  <a:schemeClr val="dk1"/>
                </a:solidFill>
                <a:latin typeface="Calibri"/>
                <a:ea typeface="Calibri"/>
                <a:cs typeface="Calibri"/>
                <a:sym typeface="Calibri"/>
              </a:rPr>
              <a:t> (toutes les conditions doivent être vraies) ou </a:t>
            </a:r>
            <a:r>
              <a:rPr b="1" i="0" lang="fr-FR" sz="1900" u="none" cap="none" strike="noStrike">
                <a:solidFill>
                  <a:schemeClr val="dk1"/>
                </a:solidFill>
                <a:latin typeface="Calibri"/>
                <a:ea typeface="Calibri"/>
                <a:cs typeface="Calibri"/>
                <a:sym typeface="Calibri"/>
              </a:rPr>
              <a:t>OR</a:t>
            </a:r>
            <a:r>
              <a:rPr b="0" i="0" lang="fr-FR" sz="1900" u="none" cap="none" strike="noStrike">
                <a:solidFill>
                  <a:schemeClr val="dk1"/>
                </a:solidFill>
                <a:latin typeface="Calibri"/>
                <a:ea typeface="Calibri"/>
                <a:cs typeface="Calibri"/>
                <a:sym typeface="Calibri"/>
              </a:rPr>
              <a:t> (au moins une condition vraie).</a:t>
            </a:r>
            <a:endParaRPr/>
          </a:p>
          <a:p>
            <a:pPr indent="-111601" lvl="0" marL="0" marR="0" rtl="0" algn="l">
              <a:spcBef>
                <a:spcPts val="0"/>
              </a:spcBef>
              <a:spcAft>
                <a:spcPts val="0"/>
              </a:spcAft>
              <a:buClr>
                <a:schemeClr val="dk1"/>
              </a:buClr>
              <a:buSzPct val="100000"/>
              <a:buFont typeface="Arial"/>
              <a:buAutoNum type="arabicPeriod"/>
            </a:pPr>
            <a:r>
              <a:rPr b="1" i="0" lang="fr-FR" sz="1900" u="none" cap="none" strike="noStrike">
                <a:solidFill>
                  <a:schemeClr val="dk1"/>
                </a:solidFill>
                <a:latin typeface="Calibri"/>
                <a:ea typeface="Calibri"/>
                <a:cs typeface="Calibri"/>
                <a:sym typeface="Calibri"/>
              </a:rPr>
              <a:t>Définir une condition</a:t>
            </a:r>
            <a:r>
              <a:rPr b="0" i="0" lang="fr-FR" sz="1900" u="none" cap="none" strike="noStrike">
                <a:solidFill>
                  <a:schemeClr val="dk1"/>
                </a:solidFill>
                <a:latin typeface="Calibri"/>
                <a:ea typeface="Calibri"/>
                <a:cs typeface="Calibri"/>
                <a:sym typeface="Calibri"/>
              </a:rPr>
              <a:t> :</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Sélectionnez une question dans la liste.</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Renseignez l’</a:t>
            </a:r>
            <a:r>
              <a:rPr b="1" i="0" lang="fr-FR" sz="1900" u="none" cap="none" strike="noStrike">
                <a:solidFill>
                  <a:schemeClr val="dk1"/>
                </a:solidFill>
                <a:latin typeface="Calibri"/>
                <a:ea typeface="Calibri"/>
                <a:cs typeface="Calibri"/>
                <a:sym typeface="Calibri"/>
              </a:rPr>
              <a:t>ID</a:t>
            </a:r>
            <a:r>
              <a:rPr b="0" i="0" lang="fr-FR" sz="1900" u="none" cap="none" strike="noStrike">
                <a:solidFill>
                  <a:schemeClr val="dk1"/>
                </a:solidFill>
                <a:latin typeface="Calibri"/>
                <a:ea typeface="Calibri"/>
                <a:cs typeface="Calibri"/>
                <a:sym typeface="Calibri"/>
              </a:rPr>
              <a:t> de la question.</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Choisissez un </a:t>
            </a:r>
            <a:r>
              <a:rPr b="1" i="0" lang="fr-FR" sz="1900" u="none" cap="none" strike="noStrike">
                <a:solidFill>
                  <a:schemeClr val="dk1"/>
                </a:solidFill>
                <a:latin typeface="Calibri"/>
                <a:ea typeface="Calibri"/>
                <a:cs typeface="Calibri"/>
                <a:sym typeface="Calibri"/>
              </a:rPr>
              <a:t>opérateur</a:t>
            </a:r>
            <a:r>
              <a:rPr b="0" i="0" lang="fr-FR" sz="1900" u="none" cap="none" strike="noStrike">
                <a:solidFill>
                  <a:schemeClr val="dk1"/>
                </a:solidFill>
                <a:latin typeface="Calibri"/>
                <a:ea typeface="Calibri"/>
                <a:cs typeface="Calibri"/>
                <a:sym typeface="Calibri"/>
              </a:rPr>
              <a:t> (==, !=, &lt;, &gt;, &gt;=, &lt;=, contains, doesn't contain).</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Saisissez la </a:t>
            </a:r>
            <a:r>
              <a:rPr b="1" i="0" lang="fr-FR" sz="1900" u="none" cap="none" strike="noStrike">
                <a:solidFill>
                  <a:schemeClr val="dk1"/>
                </a:solidFill>
                <a:latin typeface="Calibri"/>
                <a:ea typeface="Calibri"/>
                <a:cs typeface="Calibri"/>
                <a:sym typeface="Calibri"/>
              </a:rPr>
              <a:t>valeur de réponse attendue</a:t>
            </a:r>
            <a:r>
              <a:rPr b="0" i="0" lang="fr-FR" sz="1900" u="none" cap="none" strike="noStrike">
                <a:solidFill>
                  <a:schemeClr val="dk1"/>
                </a:solidFill>
                <a:latin typeface="Calibri"/>
                <a:ea typeface="Calibri"/>
                <a:cs typeface="Calibri"/>
                <a:sym typeface="Calibri"/>
              </a:rPr>
              <a:t>.</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Cliquez sur </a:t>
            </a:r>
            <a:r>
              <a:rPr b="1" i="0" lang="fr-FR" sz="1900" u="none" cap="none" strike="noStrike">
                <a:solidFill>
                  <a:schemeClr val="dk1"/>
                </a:solidFill>
                <a:latin typeface="Calibri"/>
                <a:ea typeface="Calibri"/>
                <a:cs typeface="Calibri"/>
                <a:sym typeface="Calibri"/>
              </a:rPr>
              <a:t>Add Condition</a:t>
            </a:r>
            <a:r>
              <a:rPr b="0" i="0" lang="fr-FR" sz="1900" u="none" cap="none" strike="noStrike">
                <a:solidFill>
                  <a:schemeClr val="dk1"/>
                </a:solidFill>
                <a:latin typeface="Calibri"/>
                <a:ea typeface="Calibri"/>
                <a:cs typeface="Calibri"/>
                <a:sym typeface="Calibri"/>
              </a:rPr>
              <a:t> pour ajouter cette condition.</a:t>
            </a:r>
            <a:endParaRPr/>
          </a:p>
          <a:p>
            <a:pPr indent="-111601" lvl="0" marL="0" marR="0" rtl="0" algn="l">
              <a:spcBef>
                <a:spcPts val="0"/>
              </a:spcBef>
              <a:spcAft>
                <a:spcPts val="0"/>
              </a:spcAft>
              <a:buClr>
                <a:schemeClr val="dk1"/>
              </a:buClr>
              <a:buSzPct val="100000"/>
              <a:buFont typeface="Arial"/>
              <a:buAutoNum type="arabicPeriod"/>
            </a:pPr>
            <a:r>
              <a:rPr b="1" i="0" lang="fr-FR" sz="1900" u="none" cap="none" strike="noStrike">
                <a:solidFill>
                  <a:schemeClr val="dk1"/>
                </a:solidFill>
                <a:latin typeface="Calibri"/>
                <a:ea typeface="Calibri"/>
                <a:cs typeface="Calibri"/>
                <a:sym typeface="Calibri"/>
              </a:rPr>
              <a:t>Créer un groupe de conditions</a:t>
            </a:r>
            <a:r>
              <a:rPr b="0" i="0" lang="fr-FR" sz="1900" u="none" cap="none" strike="noStrike">
                <a:solidFill>
                  <a:schemeClr val="dk1"/>
                </a:solidFill>
                <a:latin typeface="Calibri"/>
                <a:ea typeface="Calibri"/>
                <a:cs typeface="Calibri"/>
                <a:sym typeface="Calibri"/>
              </a:rPr>
              <a:t> :</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Utilisez </a:t>
            </a:r>
            <a:r>
              <a:rPr b="1" i="0" lang="fr-FR" sz="1900" u="none" cap="none" strike="noStrike">
                <a:solidFill>
                  <a:schemeClr val="dk1"/>
                </a:solidFill>
                <a:latin typeface="Calibri"/>
                <a:ea typeface="Calibri"/>
                <a:cs typeface="Calibri"/>
                <a:sym typeface="Calibri"/>
              </a:rPr>
              <a:t>Add Operator</a:t>
            </a:r>
            <a:r>
              <a:rPr b="0" i="0" lang="fr-FR" sz="1900" u="none" cap="none" strike="noStrike">
                <a:solidFill>
                  <a:schemeClr val="dk1"/>
                </a:solidFill>
                <a:latin typeface="Calibri"/>
                <a:ea typeface="Calibri"/>
                <a:cs typeface="Calibri"/>
                <a:sym typeface="Calibri"/>
              </a:rPr>
              <a:t> pour ajouter un nouveau groupe logique (</a:t>
            </a:r>
            <a:r>
              <a:rPr b="1" i="0" lang="fr-FR" sz="1900" u="none" cap="none" strike="noStrike">
                <a:solidFill>
                  <a:schemeClr val="dk1"/>
                </a:solidFill>
                <a:latin typeface="Calibri"/>
                <a:ea typeface="Calibri"/>
                <a:cs typeface="Calibri"/>
                <a:sym typeface="Calibri"/>
              </a:rPr>
              <a:t>AND/OR</a:t>
            </a:r>
            <a:r>
              <a:rPr b="0" i="0" lang="fr-FR" sz="1900" u="none" cap="none" strike="noStrike">
                <a:solidFill>
                  <a:schemeClr val="dk1"/>
                </a:solidFill>
                <a:latin typeface="Calibri"/>
                <a:ea typeface="Calibri"/>
                <a:cs typeface="Calibri"/>
                <a:sym typeface="Calibri"/>
              </a:rPr>
              <a:t>) et recommencez les étapes précédentes pour chaque condition.</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Cliquez ensuite sur </a:t>
            </a:r>
            <a:r>
              <a:rPr b="1" i="0" lang="fr-FR" sz="1900" u="none" cap="none" strike="noStrike">
                <a:solidFill>
                  <a:schemeClr val="dk1"/>
                </a:solidFill>
                <a:latin typeface="Calibri"/>
                <a:ea typeface="Calibri"/>
                <a:cs typeface="Calibri"/>
                <a:sym typeface="Calibri"/>
              </a:rPr>
              <a:t>Confirm</a:t>
            </a:r>
            <a:r>
              <a:rPr b="0" i="0" lang="fr-FR" sz="1900" u="none" cap="none" strike="noStrike">
                <a:solidFill>
                  <a:schemeClr val="dk1"/>
                </a:solidFill>
                <a:latin typeface="Calibri"/>
                <a:ea typeface="Calibri"/>
                <a:cs typeface="Calibri"/>
                <a:sym typeface="Calibri"/>
              </a:rPr>
              <a:t> pour valider l’ensemble du bloc conditionnel.</a:t>
            </a:r>
            <a:endParaRPr/>
          </a:p>
          <a:p>
            <a:pPr indent="-111601" lvl="0" marL="0" marR="0" rtl="0" algn="l">
              <a:spcBef>
                <a:spcPts val="0"/>
              </a:spcBef>
              <a:spcAft>
                <a:spcPts val="0"/>
              </a:spcAft>
              <a:buClr>
                <a:schemeClr val="dk1"/>
              </a:buClr>
              <a:buSzPct val="100000"/>
              <a:buFont typeface="Arial"/>
              <a:buAutoNum type="arabicPeriod"/>
            </a:pPr>
            <a:r>
              <a:rPr b="1" i="0" lang="fr-FR" sz="1900" u="none" cap="none" strike="noStrike">
                <a:solidFill>
                  <a:schemeClr val="dk1"/>
                </a:solidFill>
                <a:latin typeface="Calibri"/>
                <a:ea typeface="Calibri"/>
                <a:cs typeface="Calibri"/>
                <a:sym typeface="Calibri"/>
              </a:rPr>
              <a:t>Définir la redirection</a:t>
            </a:r>
            <a:r>
              <a:rPr b="0" i="0" lang="fr-FR" sz="1900" u="none" cap="none" strike="noStrike">
                <a:solidFill>
                  <a:schemeClr val="dk1"/>
                </a:solidFill>
                <a:latin typeface="Calibri"/>
                <a:ea typeface="Calibri"/>
                <a:cs typeface="Calibri"/>
                <a:sym typeface="Calibri"/>
              </a:rPr>
              <a:t> :</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Dans </a:t>
            </a:r>
            <a:r>
              <a:rPr b="1" i="0" lang="fr-FR" sz="1900" u="none" cap="none" strike="noStrike">
                <a:solidFill>
                  <a:schemeClr val="dk1"/>
                </a:solidFill>
                <a:latin typeface="Calibri"/>
                <a:ea typeface="Calibri"/>
                <a:cs typeface="Calibri"/>
                <a:sym typeface="Calibri"/>
              </a:rPr>
              <a:t>Next Question</a:t>
            </a:r>
            <a:r>
              <a:rPr b="0" i="0" lang="fr-FR" sz="1900" u="none" cap="none" strike="noStrike">
                <a:solidFill>
                  <a:schemeClr val="dk1"/>
                </a:solidFill>
                <a:latin typeface="Calibri"/>
                <a:ea typeface="Calibri"/>
                <a:cs typeface="Calibri"/>
                <a:sym typeface="Calibri"/>
              </a:rPr>
              <a:t>, indiquez l’ID de la question vers laquelle le répondant doit être redirigé si la condition est vraie.</a:t>
            </a:r>
            <a:endParaRPr/>
          </a:p>
          <a:p>
            <a:pPr indent="-111601" lvl="1" marL="457200" marR="0" rtl="0" algn="l">
              <a:spcBef>
                <a:spcPts val="0"/>
              </a:spcBef>
              <a:spcAft>
                <a:spcPts val="0"/>
              </a:spcAft>
              <a:buClr>
                <a:schemeClr val="dk1"/>
              </a:buClr>
              <a:buSzPct val="100000"/>
              <a:buFont typeface="Arial"/>
              <a:buChar char="•"/>
            </a:pPr>
            <a:r>
              <a:rPr b="0" i="0" lang="fr-FR" sz="1900" u="none" cap="none" strike="noStrike">
                <a:solidFill>
                  <a:schemeClr val="dk1"/>
                </a:solidFill>
                <a:latin typeface="Calibri"/>
                <a:ea typeface="Calibri"/>
                <a:cs typeface="Calibri"/>
                <a:sym typeface="Calibri"/>
              </a:rPr>
              <a:t>Saisir 0 pour quitter le questionnaire.</a:t>
            </a:r>
            <a:endParaRPr/>
          </a:p>
          <a:p>
            <a:pPr indent="-111601" lvl="0" marL="0" marR="0" rtl="0" algn="l">
              <a:spcBef>
                <a:spcPts val="0"/>
              </a:spcBef>
              <a:spcAft>
                <a:spcPts val="0"/>
              </a:spcAft>
              <a:buClr>
                <a:schemeClr val="dk1"/>
              </a:buClr>
              <a:buSzPct val="100000"/>
              <a:buFont typeface="Arial"/>
              <a:buAutoNum type="arabicPeriod"/>
            </a:pPr>
            <a:r>
              <a:rPr b="1" i="0" lang="fr-FR" sz="1900" u="none" cap="none" strike="noStrike">
                <a:solidFill>
                  <a:schemeClr val="dk1"/>
                </a:solidFill>
                <a:latin typeface="Calibri"/>
                <a:ea typeface="Calibri"/>
                <a:cs typeface="Calibri"/>
                <a:sym typeface="Calibri"/>
              </a:rPr>
              <a:t>Génération automatique de la condition JSON</a:t>
            </a:r>
            <a:r>
              <a:rPr b="0" i="0" lang="fr-FR" sz="1900" u="none" cap="none" strike="noStrike">
                <a:solidFill>
                  <a:schemeClr val="dk1"/>
                </a:solidFill>
                <a:latin typeface="Calibri"/>
                <a:ea typeface="Calibri"/>
                <a:cs typeface="Calibri"/>
                <a:sym typeface="Calibri"/>
              </a:rPr>
              <a:t> :</a:t>
            </a:r>
            <a:br>
              <a:rPr b="0" i="0" lang="fr-FR" sz="1900" u="none" cap="none" strike="noStrike">
                <a:solidFill>
                  <a:schemeClr val="dk1"/>
                </a:solidFill>
                <a:latin typeface="Calibri"/>
                <a:ea typeface="Calibri"/>
                <a:cs typeface="Calibri"/>
                <a:sym typeface="Calibri"/>
              </a:rPr>
            </a:br>
            <a:r>
              <a:rPr b="0" i="0" lang="fr-FR" sz="1900" u="none" cap="none" strike="noStrike">
                <a:solidFill>
                  <a:schemeClr val="dk1"/>
                </a:solidFill>
                <a:latin typeface="Calibri"/>
                <a:ea typeface="Calibri"/>
                <a:cs typeface="Calibri"/>
                <a:sym typeface="Calibri"/>
              </a:rPr>
              <a:t>Le bloc de code généré s’affiche automatiquement en bas de l’interface. Cette fonctionnalité évite aux utilisateurs non-développeurs de manipuler directement du code JSON.</a:t>
            </a:r>
            <a:endParaRPr/>
          </a:p>
          <a:p>
            <a:pPr indent="0" lvl="0" marL="0" marR="0" rtl="0" algn="l">
              <a:spcBef>
                <a:spcPts val="0"/>
              </a:spcBef>
              <a:spcAft>
                <a:spcPts val="0"/>
              </a:spcAft>
              <a:buClr>
                <a:srgbClr val="888888"/>
              </a:buClr>
              <a:buSzPct val="100000"/>
              <a:buFont typeface="Arial"/>
              <a:buNone/>
            </a:pPr>
            <a:r>
              <a:t/>
            </a:r>
            <a:endParaRPr b="0" i="0" sz="1800" u="none" cap="none" strike="noStrike">
              <a:solidFill>
                <a:schemeClr val="dk1"/>
              </a:solidFill>
              <a:latin typeface="Arial"/>
              <a:ea typeface="Arial"/>
              <a:cs typeface="Arial"/>
              <a:sym typeface="Arial"/>
            </a:endParaRPr>
          </a:p>
          <a:p>
            <a:pPr indent="0" lvl="0" marL="0" marR="0" rtl="0" algn="ctr">
              <a:spcBef>
                <a:spcPts val="592"/>
              </a:spcBef>
              <a:spcAft>
                <a:spcPts val="0"/>
              </a:spcAft>
              <a:buClr>
                <a:srgbClr val="888888"/>
              </a:buClr>
              <a:buSzPct val="100000"/>
              <a:buFont typeface="Arial"/>
              <a:buNone/>
            </a:pPr>
            <a:r>
              <a:t/>
            </a:r>
            <a:endParaRPr b="0" i="0" sz="3200" u="none" cap="none" strike="noStrike">
              <a:solidFill>
                <a:srgbClr val="888888"/>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12"/>
          <p:cNvSpPr txBox="1"/>
          <p:nvPr>
            <p:ph idx="1" type="subTitle"/>
          </p:nvPr>
        </p:nvSpPr>
        <p:spPr>
          <a:xfrm>
            <a:off x="292100" y="393700"/>
            <a:ext cx="8369300" cy="41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rPr>
              <a:t>Exemple dans le cas d’une condition simple</a:t>
            </a:r>
            <a:endParaRPr sz="1900">
              <a:solidFill>
                <a:schemeClr val="dk1"/>
              </a:solidFill>
              <a:latin typeface="Calibri"/>
              <a:ea typeface="Calibri"/>
              <a:cs typeface="Calibri"/>
              <a:sym typeface="Calibri"/>
            </a:endParaRPr>
          </a:p>
          <a:p>
            <a:pPr indent="0" lvl="0" marL="0" rtl="0" algn="l">
              <a:spcBef>
                <a:spcPts val="0"/>
              </a:spcBef>
              <a:spcAft>
                <a:spcPts val="0"/>
              </a:spcAft>
              <a:buClr>
                <a:srgbClr val="888888"/>
              </a:buClr>
              <a:buSzPts val="1800"/>
              <a:buNone/>
            </a:pPr>
            <a:r>
              <a:t/>
            </a:r>
            <a:endParaRPr sz="1800">
              <a:solidFill>
                <a:schemeClr val="dk1"/>
              </a:solidFill>
              <a:latin typeface="Arial"/>
              <a:ea typeface="Arial"/>
              <a:cs typeface="Arial"/>
              <a:sym typeface="Arial"/>
            </a:endParaRPr>
          </a:p>
          <a:p>
            <a:pPr indent="0" lvl="0" marL="0" rtl="0" algn="l">
              <a:spcBef>
                <a:spcPts val="360"/>
              </a:spcBef>
              <a:spcAft>
                <a:spcPts val="0"/>
              </a:spcAft>
              <a:buClr>
                <a:srgbClr val="888888"/>
              </a:buClr>
              <a:buSzPts val="1800"/>
              <a:buNone/>
            </a:pPr>
            <a:r>
              <a:t/>
            </a:r>
            <a:endParaRPr b="1" sz="1800">
              <a:solidFill>
                <a:schemeClr val="dk1"/>
              </a:solidFill>
            </a:endParaRPr>
          </a:p>
          <a:p>
            <a:pPr indent="0" lvl="0" marL="0" rtl="0" algn="l">
              <a:spcBef>
                <a:spcPts val="360"/>
              </a:spcBef>
              <a:spcAft>
                <a:spcPts val="0"/>
              </a:spcAft>
              <a:buClr>
                <a:srgbClr val="888888"/>
              </a:buClr>
              <a:buSzPts val="1800"/>
              <a:buNone/>
            </a:pPr>
            <a:r>
              <a:t/>
            </a:r>
            <a:endParaRPr sz="1800">
              <a:solidFill>
                <a:schemeClr val="dk1"/>
              </a:solidFill>
            </a:endParaRPr>
          </a:p>
        </p:txBody>
      </p:sp>
      <p:sp>
        <p:nvSpPr>
          <p:cNvPr id="161" name="Google Shape;161;p12"/>
          <p:cNvSpPr/>
          <p:nvPr/>
        </p:nvSpPr>
        <p:spPr>
          <a:xfrm>
            <a:off x="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62" name="Google Shape;162;p12"/>
          <p:cNvPicPr preferRelativeResize="0"/>
          <p:nvPr/>
        </p:nvPicPr>
        <p:blipFill rotWithShape="1">
          <a:blip r:embed="rId4">
            <a:alphaModFix/>
          </a:blip>
          <a:srcRect b="0" l="0" r="0" t="0"/>
          <a:stretch/>
        </p:blipFill>
        <p:spPr>
          <a:xfrm>
            <a:off x="254000" y="1114425"/>
            <a:ext cx="8636000" cy="4857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13"/>
          <p:cNvSpPr txBox="1"/>
          <p:nvPr>
            <p:ph idx="1" type="subTitle"/>
          </p:nvPr>
        </p:nvSpPr>
        <p:spPr>
          <a:xfrm>
            <a:off x="292100" y="393700"/>
            <a:ext cx="8369300" cy="41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rPr>
              <a:t>Exemple dans le cas d’une condition complexe</a:t>
            </a:r>
            <a:endParaRPr sz="1900">
              <a:solidFill>
                <a:schemeClr val="dk1"/>
              </a:solidFill>
              <a:latin typeface="Calibri"/>
              <a:ea typeface="Calibri"/>
              <a:cs typeface="Calibri"/>
              <a:sym typeface="Calibri"/>
            </a:endParaRPr>
          </a:p>
          <a:p>
            <a:pPr indent="0" lvl="0" marL="0" rtl="0" algn="l">
              <a:spcBef>
                <a:spcPts val="0"/>
              </a:spcBef>
              <a:spcAft>
                <a:spcPts val="0"/>
              </a:spcAft>
              <a:buClr>
                <a:srgbClr val="888888"/>
              </a:buClr>
              <a:buSzPts val="1800"/>
              <a:buNone/>
            </a:pPr>
            <a:r>
              <a:t/>
            </a:r>
            <a:endParaRPr sz="1800">
              <a:solidFill>
                <a:schemeClr val="dk1"/>
              </a:solidFill>
              <a:latin typeface="Arial"/>
              <a:ea typeface="Arial"/>
              <a:cs typeface="Arial"/>
              <a:sym typeface="Arial"/>
            </a:endParaRPr>
          </a:p>
          <a:p>
            <a:pPr indent="0" lvl="0" marL="0" rtl="0" algn="l">
              <a:spcBef>
                <a:spcPts val="360"/>
              </a:spcBef>
              <a:spcAft>
                <a:spcPts val="0"/>
              </a:spcAft>
              <a:buClr>
                <a:srgbClr val="888888"/>
              </a:buClr>
              <a:buSzPts val="1800"/>
              <a:buNone/>
            </a:pPr>
            <a:r>
              <a:t/>
            </a:r>
            <a:endParaRPr b="1" sz="1800">
              <a:solidFill>
                <a:schemeClr val="dk1"/>
              </a:solidFill>
            </a:endParaRPr>
          </a:p>
          <a:p>
            <a:pPr indent="0" lvl="0" marL="0" rtl="0" algn="l">
              <a:spcBef>
                <a:spcPts val="360"/>
              </a:spcBef>
              <a:spcAft>
                <a:spcPts val="0"/>
              </a:spcAft>
              <a:buClr>
                <a:srgbClr val="888888"/>
              </a:buClr>
              <a:buSzPts val="1800"/>
              <a:buNone/>
            </a:pPr>
            <a:r>
              <a:t/>
            </a:r>
            <a:endParaRPr sz="1800">
              <a:solidFill>
                <a:schemeClr val="dk1"/>
              </a:solidFill>
            </a:endParaRPr>
          </a:p>
        </p:txBody>
      </p:sp>
      <p:sp>
        <p:nvSpPr>
          <p:cNvPr id="168" name="Google Shape;168;p13"/>
          <p:cNvSpPr/>
          <p:nvPr/>
        </p:nvSpPr>
        <p:spPr>
          <a:xfrm>
            <a:off x="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69" name="Google Shape;169;p13"/>
          <p:cNvPicPr preferRelativeResize="0"/>
          <p:nvPr/>
        </p:nvPicPr>
        <p:blipFill rotWithShape="1">
          <a:blip r:embed="rId4">
            <a:alphaModFix/>
          </a:blip>
          <a:srcRect b="0" l="0" r="0" t="0"/>
          <a:stretch/>
        </p:blipFill>
        <p:spPr>
          <a:xfrm>
            <a:off x="173566" y="954881"/>
            <a:ext cx="8796867" cy="49482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sp>
        <p:nvSpPr>
          <p:cNvPr id="174" name="Google Shape;174;p14"/>
          <p:cNvSpPr txBox="1"/>
          <p:nvPr>
            <p:ph idx="1" type="subTitle"/>
          </p:nvPr>
        </p:nvSpPr>
        <p:spPr>
          <a:xfrm>
            <a:off x="76200" y="304800"/>
            <a:ext cx="9017000" cy="38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b="1" lang="fr-FR" sz="1800">
                <a:solidFill>
                  <a:schemeClr val="dk1"/>
                </a:solidFill>
                <a:latin typeface="Calibri"/>
                <a:ea typeface="Calibri"/>
                <a:cs typeface="Calibri"/>
                <a:sym typeface="Calibri"/>
              </a:rPr>
              <a:t>Onglet Filter – Logique d'affichage conditionnel</a:t>
            </a:r>
            <a:endParaRPr/>
          </a:p>
          <a:p>
            <a:pPr indent="0" lvl="0" marL="0" rtl="0" algn="l">
              <a:spcBef>
                <a:spcPts val="360"/>
              </a:spcBef>
              <a:spcAft>
                <a:spcPts val="0"/>
              </a:spcAft>
              <a:buClr>
                <a:srgbClr val="888888"/>
              </a:buClr>
              <a:buSzPts val="1800"/>
              <a:buNone/>
            </a:pPr>
            <a:r>
              <a:t/>
            </a:r>
            <a:endParaRPr sz="1800">
              <a:solidFill>
                <a:schemeClr val="dk1"/>
              </a:solidFill>
            </a:endParaRPr>
          </a:p>
        </p:txBody>
      </p:sp>
      <p:sp>
        <p:nvSpPr>
          <p:cNvPr id="175" name="Google Shape;175;p14"/>
          <p:cNvSpPr txBox="1"/>
          <p:nvPr/>
        </p:nvSpPr>
        <p:spPr>
          <a:xfrm>
            <a:off x="76200" y="685800"/>
            <a:ext cx="8509000" cy="736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800"/>
              <a:buFont typeface="Arial"/>
              <a:buNone/>
            </a:pPr>
            <a:r>
              <a:rPr b="0" i="0" lang="fr-FR" sz="1800" u="none" cap="none" strike="noStrike">
                <a:solidFill>
                  <a:schemeClr val="dk1"/>
                </a:solidFill>
                <a:latin typeface="Calibri"/>
                <a:ea typeface="Calibri"/>
                <a:cs typeface="Calibri"/>
                <a:sym typeface="Calibri"/>
              </a:rPr>
              <a:t>L'onglet Filter permet de masquer ou afficher certaines modalités (réponses) d’une question en fonction des réponses données à des questions précédentes.</a:t>
            </a:r>
            <a:endParaRPr/>
          </a:p>
          <a:p>
            <a:pPr indent="0" lvl="0" marL="0" marR="0" rtl="0" algn="l">
              <a:spcBef>
                <a:spcPts val="360"/>
              </a:spcBef>
              <a:spcAft>
                <a:spcPts val="0"/>
              </a:spcAft>
              <a:buClr>
                <a:srgbClr val="888888"/>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14"/>
          <p:cNvSpPr txBox="1"/>
          <p:nvPr/>
        </p:nvSpPr>
        <p:spPr>
          <a:xfrm>
            <a:off x="165100" y="1422400"/>
            <a:ext cx="3187700"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1800" u="none" cap="none" strike="noStrike">
                <a:solidFill>
                  <a:schemeClr val="dk1"/>
                </a:solidFill>
                <a:latin typeface="Calibri"/>
                <a:ea typeface="Calibri"/>
                <a:cs typeface="Calibri"/>
                <a:sym typeface="Calibri"/>
              </a:rPr>
              <a:t>Fonctionnement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Vous sélectionnez une ou plusieurs questions précédentes via leurs identifiants (ex : ID = 1 et 2).</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Chaque question peut avoir plusieurs modalités (ex : A, B, C, D, etc.).</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Vous choisissez si la logique est basée sur "True" ou "False" via un menu déroulant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fr-FR" sz="1800">
                <a:solidFill>
                  <a:schemeClr val="dk1"/>
                </a:solidFill>
                <a:latin typeface="Calibri"/>
                <a:ea typeface="Calibri"/>
                <a:cs typeface="Calibri"/>
                <a:sym typeface="Calibri"/>
              </a:rPr>
              <a:t>True</a:t>
            </a:r>
            <a:r>
              <a:rPr lang="fr-FR" sz="1800">
                <a:solidFill>
                  <a:schemeClr val="dk1"/>
                </a:solidFill>
                <a:latin typeface="Calibri"/>
                <a:ea typeface="Calibri"/>
                <a:cs typeface="Calibri"/>
                <a:sym typeface="Calibri"/>
              </a:rPr>
              <a:t> : les modalités non choisies s’affichent.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fr-FR" sz="1800">
                <a:solidFill>
                  <a:schemeClr val="dk1"/>
                </a:solidFill>
                <a:latin typeface="Calibri"/>
                <a:ea typeface="Calibri"/>
                <a:cs typeface="Calibri"/>
                <a:sym typeface="Calibri"/>
              </a:rPr>
              <a:t>False</a:t>
            </a:r>
            <a:r>
              <a:rPr lang="fr-FR" sz="1800">
                <a:solidFill>
                  <a:schemeClr val="dk1"/>
                </a:solidFill>
                <a:latin typeface="Calibri"/>
                <a:ea typeface="Calibri"/>
                <a:cs typeface="Calibri"/>
                <a:sym typeface="Calibri"/>
              </a:rPr>
              <a:t> : seules les modalités sélectionnées s'affichent si elles ont été choisies précédemment.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7" name="Google Shape;177;p14"/>
          <p:cNvPicPr preferRelativeResize="0"/>
          <p:nvPr/>
        </p:nvPicPr>
        <p:blipFill rotWithShape="1">
          <a:blip r:embed="rId4">
            <a:alphaModFix/>
          </a:blip>
          <a:srcRect b="0" l="0" r="0" t="0"/>
          <a:stretch/>
        </p:blipFill>
        <p:spPr>
          <a:xfrm>
            <a:off x="3543262" y="1638300"/>
            <a:ext cx="5524538" cy="4038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15"/>
          <p:cNvSpPr txBox="1"/>
          <p:nvPr/>
        </p:nvSpPr>
        <p:spPr>
          <a:xfrm>
            <a:off x="457200" y="304603"/>
            <a:ext cx="77535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Gestion des quotas – Partie CSP</a:t>
            </a:r>
            <a:endParaRPr b="1" sz="1800">
              <a:solidFill>
                <a:schemeClr val="dk1"/>
              </a:solidFill>
              <a:latin typeface="Calibri"/>
              <a:ea typeface="Calibri"/>
              <a:cs typeface="Calibri"/>
              <a:sym typeface="Calibri"/>
            </a:endParaRPr>
          </a:p>
        </p:txBody>
      </p:sp>
      <p:sp>
        <p:nvSpPr>
          <p:cNvPr id="183" name="Google Shape;183;p15"/>
          <p:cNvSpPr txBox="1"/>
          <p:nvPr/>
        </p:nvSpPr>
        <p:spPr>
          <a:xfrm>
            <a:off x="355600" y="673935"/>
            <a:ext cx="3811378"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Dans la partie CSP d’un questionnaire, cliquez sur le bouton « Editer » Ou au début de création de questionnaire pour ouvrir une fenêtre pop-up dédiée à la configuration des classes socio-professionnelles.</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Dans cette fenêtre, vous pouvez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Définir les groupes ou classes CSP (ex : A, B, C, etc.)</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Attribuer un score à chaque groupe</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Gérer les règles de filtrage ou de qualification des répondants en fonction de leur score total</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Objectif :</a:t>
            </a:r>
            <a:br>
              <a:rPr lang="fr-FR" sz="1800">
                <a:solidFill>
                  <a:schemeClr val="dk1"/>
                </a:solidFill>
                <a:latin typeface="Calibri"/>
                <a:ea typeface="Calibri"/>
                <a:cs typeface="Calibri"/>
                <a:sym typeface="Calibri"/>
              </a:rPr>
            </a:br>
            <a:r>
              <a:rPr lang="fr-FR" sz="1800">
                <a:solidFill>
                  <a:schemeClr val="dk1"/>
                </a:solidFill>
                <a:latin typeface="Calibri"/>
                <a:ea typeface="Calibri"/>
                <a:cs typeface="Calibri"/>
                <a:sym typeface="Calibri"/>
              </a:rPr>
              <a:t>Évaluer automatiquement si un répondant appartient à une classe ciblée et déterminer s’il peut continuer ou non le questionnaire.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id="184" name="Google Shape;184;p15"/>
          <p:cNvPicPr preferRelativeResize="0"/>
          <p:nvPr/>
        </p:nvPicPr>
        <p:blipFill rotWithShape="1">
          <a:blip r:embed="rId4">
            <a:alphaModFix/>
          </a:blip>
          <a:srcRect b="0" l="0" r="0" t="0"/>
          <a:stretch/>
        </p:blipFill>
        <p:spPr>
          <a:xfrm>
            <a:off x="4166978" y="1218408"/>
            <a:ext cx="4683339" cy="42663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16"/>
          <p:cNvSpPr txBox="1"/>
          <p:nvPr/>
        </p:nvSpPr>
        <p:spPr>
          <a:xfrm>
            <a:off x="457200" y="304603"/>
            <a:ext cx="77535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Gestion des Quotas – Matrice personnalisée</a:t>
            </a:r>
            <a:endParaRPr b="1" sz="1800">
              <a:solidFill>
                <a:schemeClr val="dk1"/>
              </a:solidFill>
              <a:latin typeface="Calibri"/>
              <a:ea typeface="Calibri"/>
              <a:cs typeface="Calibri"/>
              <a:sym typeface="Calibri"/>
            </a:endParaRPr>
          </a:p>
        </p:txBody>
      </p:sp>
      <p:sp>
        <p:nvSpPr>
          <p:cNvPr id="190" name="Google Shape;190;p16"/>
          <p:cNvSpPr txBox="1"/>
          <p:nvPr/>
        </p:nvSpPr>
        <p:spPr>
          <a:xfrm>
            <a:off x="355600" y="673935"/>
            <a:ext cx="846908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Cette section permet de configurer des </a:t>
            </a:r>
            <a:r>
              <a:rPr b="1" lang="fr-FR" sz="1800">
                <a:solidFill>
                  <a:schemeClr val="dk1"/>
                </a:solidFill>
                <a:latin typeface="Calibri"/>
                <a:ea typeface="Calibri"/>
                <a:cs typeface="Calibri"/>
                <a:sym typeface="Calibri"/>
              </a:rPr>
              <a:t>quotas dynamiques et croisés</a:t>
            </a:r>
            <a:r>
              <a:rPr lang="fr-FR" sz="1800">
                <a:solidFill>
                  <a:schemeClr val="dk1"/>
                </a:solidFill>
                <a:latin typeface="Calibri"/>
                <a:ea typeface="Calibri"/>
                <a:cs typeface="Calibri"/>
                <a:sym typeface="Calibri"/>
              </a:rPr>
              <a:t> à partir des réponses données à certaines questions du questionnaire.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fr-FR" sz="1800">
                <a:solidFill>
                  <a:schemeClr val="dk1"/>
                </a:solidFill>
                <a:latin typeface="Calibri"/>
                <a:ea typeface="Calibri"/>
                <a:cs typeface="Calibri"/>
                <a:sym typeface="Calibri"/>
              </a:rPr>
              <a:t>Fonctionnement</a:t>
            </a:r>
            <a:r>
              <a:rPr lang="fr-FR"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Sélectionnez les </a:t>
            </a:r>
            <a:r>
              <a:rPr b="1" lang="fr-FR" sz="1800">
                <a:solidFill>
                  <a:schemeClr val="dk1"/>
                </a:solidFill>
                <a:latin typeface="Calibri"/>
                <a:ea typeface="Calibri"/>
                <a:cs typeface="Calibri"/>
                <a:sym typeface="Calibri"/>
              </a:rPr>
              <a:t>questions clés</a:t>
            </a:r>
            <a:r>
              <a:rPr lang="fr-FR" sz="1800">
                <a:solidFill>
                  <a:schemeClr val="dk1"/>
                </a:solidFill>
                <a:latin typeface="Calibri"/>
                <a:ea typeface="Calibri"/>
                <a:cs typeface="Calibri"/>
                <a:sym typeface="Calibri"/>
              </a:rPr>
              <a:t> (ex : sexe, âge, région, etc.)</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Créez une </a:t>
            </a:r>
            <a:r>
              <a:rPr b="1" lang="fr-FR" sz="1800">
                <a:solidFill>
                  <a:schemeClr val="dk1"/>
                </a:solidFill>
                <a:latin typeface="Calibri"/>
                <a:ea typeface="Calibri"/>
                <a:cs typeface="Calibri"/>
                <a:sym typeface="Calibri"/>
              </a:rPr>
              <a:t>matrice de combinaison de réponses</a:t>
            </a:r>
            <a:r>
              <a:rPr lang="fr-FR" sz="1800">
                <a:solidFill>
                  <a:schemeClr val="dk1"/>
                </a:solidFill>
                <a:latin typeface="Calibri"/>
                <a:ea typeface="Calibri"/>
                <a:cs typeface="Calibri"/>
                <a:sym typeface="Calibri"/>
              </a:rPr>
              <a:t> avec un quota spécifique pour chaque profil</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id="191" name="Google Shape;191;p16"/>
          <p:cNvPicPr preferRelativeResize="0"/>
          <p:nvPr/>
        </p:nvPicPr>
        <p:blipFill rotWithShape="1">
          <a:blip r:embed="rId4">
            <a:alphaModFix/>
          </a:blip>
          <a:srcRect b="0" l="0" r="0" t="0"/>
          <a:stretch/>
        </p:blipFill>
        <p:spPr>
          <a:xfrm>
            <a:off x="843287" y="2626375"/>
            <a:ext cx="6981372" cy="39270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nvSpPr>
        <p:spPr>
          <a:xfrm>
            <a:off x="1307550" y="2915400"/>
            <a:ext cx="6528900" cy="600300"/>
          </a:xfrm>
          <a:prstGeom prst="rect">
            <a:avLst/>
          </a:prstGeom>
          <a:noFill/>
          <a:ln>
            <a:noFill/>
          </a:ln>
        </p:spPr>
        <p:txBody>
          <a:bodyPr anchorCtr="0" anchor="t" bIns="91425" lIns="91425" spcFirstLastPara="1" rIns="91425" wrap="square" tIns="91425">
            <a:spAutoFit/>
          </a:bodyPr>
          <a:lstStyle/>
          <a:p>
            <a:pPr indent="0" lvl="0" marL="0" marR="0" rtl="0" algn="ctr">
              <a:spcBef>
                <a:spcPts val="0"/>
              </a:spcBef>
              <a:spcAft>
                <a:spcPts val="0"/>
              </a:spcAft>
              <a:buNone/>
            </a:pPr>
            <a:r>
              <a:rPr b="1" lang="fr-FR" sz="2700">
                <a:solidFill>
                  <a:schemeClr val="dk1"/>
                </a:solidFill>
                <a:latin typeface="Helvetica Neue"/>
                <a:ea typeface="Helvetica Neue"/>
                <a:cs typeface="Helvetica Neue"/>
                <a:sym typeface="Helvetica Neue"/>
              </a:rPr>
              <a:t>MERCI</a:t>
            </a:r>
            <a:endParaRPr sz="27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IMANE</dc:creator>
</cp:coreProperties>
</file>